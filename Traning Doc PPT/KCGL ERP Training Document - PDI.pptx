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0413" cy="6858000"/>
  <p:notesSz cx="7010400" cy="92964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xmlns="">
        <p15:guide id="1" orient="horz" pos="2160" userDrawn="1">
          <p15:clr>
            <a:srgbClr val="000000"/>
          </p15:clr>
        </p15:guide>
        <p15:guide id="2" pos="3839" userDrawn="1">
          <p15:clr>
            <a:srgbClr val="000000"/>
          </p15:clr>
        </p15:guide>
      </p15:sldGuideLst>
    </p:ext>
    <p:ext uri="{2D200454-40CA-4A62-9FC3-DE9A4176ACB9}">
      <p15:notesGuideLst xmlns:p15="http://schemas.microsoft.com/office/powerpoint/2012/main" xmlns="">
        <p15:guide id="1" orient="horz" pos="2928">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372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8428" autoAdjust="0"/>
  </p:normalViewPr>
  <p:slideViewPr>
    <p:cSldViewPr snapToGrid="0" showGuides="1">
      <p:cViewPr varScale="1">
        <p:scale>
          <a:sx n="71" d="100"/>
          <a:sy n="71" d="100"/>
        </p:scale>
        <p:origin x="-702" y="-102"/>
      </p:cViewPr>
      <p:guideLst>
        <p:guide orient="horz" pos="2160"/>
        <p:guide pos="3839"/>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928"/>
        <p:guide pos="2208"/>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407988" y="696913"/>
            <a:ext cx="6194425" cy="34861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01040" y="4415790"/>
            <a:ext cx="5608320" cy="4183380"/>
          </a:xfrm>
          <a:prstGeom prst="rect">
            <a:avLst/>
          </a:prstGeom>
          <a:noFill/>
          <a:ln>
            <a:noFill/>
          </a:ln>
        </p:spPr>
        <p:txBody>
          <a:bodyPr spcFirstLastPara="1" wrap="square" lIns="93162" tIns="93162" rIns="93162" bIns="93162" anchor="t" anchorCtr="0">
            <a:noAutofit/>
          </a:bodyPr>
          <a:lstStyle>
            <a:lvl1pPr marL="457200" marR="0" lvl="0"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914400" marR="0" lvl="1"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1371600" marR="0" lvl="2"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828800" marR="0" lvl="3"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2286000" marR="0" lvl="4"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743200" marR="0" lvl="5"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3200400" marR="0" lvl="6"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657600" marR="0" lvl="7"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4114800" marR="0" lvl="8"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Tree>
    <p:extLst>
      <p:ext uri="{BB962C8B-B14F-4D97-AF65-F5344CB8AC3E}">
        <p14:creationId xmlns:p14="http://schemas.microsoft.com/office/powerpoint/2010/main" val="403309253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2"/>
        <p:cNvGrpSpPr/>
        <p:nvPr/>
      </p:nvGrpSpPr>
      <p:grpSpPr>
        <a:xfrm>
          <a:off x="0" y="0"/>
          <a:ext cx="0" cy="0"/>
          <a:chOff x="0" y="0"/>
          <a:chExt cx="0" cy="0"/>
        </a:xfrm>
      </p:grpSpPr>
      <p:pic>
        <p:nvPicPr>
          <p:cNvPr id="13" name="Google Shape;13;p21" descr="D:\D Data\Conference 2023\Kala iii Logo.jpg"/>
          <p:cNvPicPr preferRelativeResize="0"/>
          <p:nvPr/>
        </p:nvPicPr>
        <p:blipFill rotWithShape="1">
          <a:blip r:embed="rId2"/>
          <a:srcRect/>
          <a:stretch>
            <a:fillRect/>
          </a:stretch>
        </p:blipFill>
        <p:spPr>
          <a:xfrm rot="160382">
            <a:off x="11168288" y="112919"/>
            <a:ext cx="849541" cy="60959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2"/>
        <p:cNvGrpSpPr/>
        <p:nvPr/>
      </p:nvGrpSpPr>
      <p:grpSpPr>
        <a:xfrm>
          <a:off x="0" y="0"/>
          <a:ext cx="0" cy="0"/>
          <a:chOff x="0" y="0"/>
          <a:chExt cx="0" cy="0"/>
        </a:xfrm>
      </p:grpSpPr>
      <p:sp>
        <p:nvSpPr>
          <p:cNvPr id="53" name="Google Shape;53;p30"/>
          <p:cNvSpPr txBox="1">
            <a:spLocks noGrp="1"/>
          </p:cNvSpPr>
          <p:nvPr>
            <p:ph type="title"/>
          </p:nvPr>
        </p:nvSpPr>
        <p:spPr>
          <a:xfrm>
            <a:off x="2389406" y="4800600"/>
            <a:ext cx="7314248" cy="566738"/>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chemeClr val="dk1"/>
              </a:buClr>
              <a:buSzPts val="2000"/>
              <a:buFont typeface="Calibri" panose="020F0502020204030204"/>
              <a:buNone/>
              <a:defRPr sz="2000" b="1"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
        <p:nvSpPr>
          <p:cNvPr id="54" name="Google Shape;54;p30"/>
          <p:cNvSpPr>
            <a:spLocks noGrp="1"/>
          </p:cNvSpPr>
          <p:nvPr>
            <p:ph type="pic" idx="2"/>
          </p:nvPr>
        </p:nvSpPr>
        <p:spPr>
          <a:xfrm>
            <a:off x="2389406" y="612775"/>
            <a:ext cx="7314248" cy="4114800"/>
          </a:xfrm>
          <a:prstGeom prst="rect">
            <a:avLst/>
          </a:prstGeom>
          <a:noFill/>
          <a:ln>
            <a:noFill/>
          </a:ln>
        </p:spPr>
      </p:sp>
      <p:sp>
        <p:nvSpPr>
          <p:cNvPr id="55" name="Google Shape;55;p30"/>
          <p:cNvSpPr txBox="1">
            <a:spLocks noGrp="1"/>
          </p:cNvSpPr>
          <p:nvPr>
            <p:ph type="body" idx="1"/>
          </p:nvPr>
        </p:nvSpPr>
        <p:spPr>
          <a:xfrm>
            <a:off x="2389406" y="5367338"/>
            <a:ext cx="7314248" cy="80486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80"/>
              </a:spcBef>
              <a:spcAft>
                <a:spcPts val="0"/>
              </a:spcAft>
              <a:buClr>
                <a:schemeClr val="dk1"/>
              </a:buClr>
              <a:buSzPts val="1400"/>
              <a:buFont typeface="Arial" panose="020B0604020202020204"/>
              <a:buNone/>
              <a:defRPr sz="1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100000"/>
              </a:lnSpc>
              <a:spcBef>
                <a:spcPts val="240"/>
              </a:spcBef>
              <a:spcAft>
                <a:spcPts val="0"/>
              </a:spcAft>
              <a:buClr>
                <a:schemeClr val="dk1"/>
              </a:buClr>
              <a:buSzPts val="12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100000"/>
              </a:lnSpc>
              <a:spcBef>
                <a:spcPts val="200"/>
              </a:spcBef>
              <a:spcAft>
                <a:spcPts val="0"/>
              </a:spcAft>
              <a:buClr>
                <a:schemeClr val="dk1"/>
              </a:buClr>
              <a:buSzPts val="1000"/>
              <a:buFont typeface="Arial" panose="020B0604020202020204"/>
              <a:buNone/>
              <a:defRPr sz="1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100000"/>
              </a:lnSpc>
              <a:spcBef>
                <a:spcPts val="180"/>
              </a:spcBef>
              <a:spcAft>
                <a:spcPts val="0"/>
              </a:spcAft>
              <a:buClr>
                <a:schemeClr val="dk1"/>
              </a:buClr>
              <a:buSzPts val="900"/>
              <a:buFont typeface="Arial" panose="020B0604020202020204"/>
              <a:buNone/>
              <a:defRPr sz="9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100000"/>
              </a:lnSpc>
              <a:spcBef>
                <a:spcPts val="180"/>
              </a:spcBef>
              <a:spcAft>
                <a:spcPts val="0"/>
              </a:spcAft>
              <a:buClr>
                <a:schemeClr val="dk1"/>
              </a:buClr>
              <a:buSzPts val="900"/>
              <a:buFont typeface="Arial" panose="020B0604020202020204"/>
              <a:buNone/>
              <a:defRPr sz="9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100000"/>
              </a:lnSpc>
              <a:spcBef>
                <a:spcPts val="180"/>
              </a:spcBef>
              <a:spcAft>
                <a:spcPts val="0"/>
              </a:spcAft>
              <a:buClr>
                <a:schemeClr val="dk1"/>
              </a:buClr>
              <a:buSzPts val="900"/>
              <a:buFont typeface="Arial" panose="020B0604020202020204"/>
              <a:buNone/>
              <a:defRPr sz="9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180"/>
              </a:spcBef>
              <a:spcAft>
                <a:spcPts val="0"/>
              </a:spcAft>
              <a:buClr>
                <a:schemeClr val="dk1"/>
              </a:buClr>
              <a:buSzPts val="900"/>
              <a:buFont typeface="Arial" panose="020B0604020202020204"/>
              <a:buNone/>
              <a:defRPr sz="9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180"/>
              </a:spcBef>
              <a:spcAft>
                <a:spcPts val="0"/>
              </a:spcAft>
              <a:buClr>
                <a:schemeClr val="dk1"/>
              </a:buClr>
              <a:buSzPts val="900"/>
              <a:buFont typeface="Arial" panose="020B0604020202020204"/>
              <a:buNone/>
              <a:defRPr sz="9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180"/>
              </a:spcBef>
              <a:spcAft>
                <a:spcPts val="0"/>
              </a:spcAft>
              <a:buClr>
                <a:schemeClr val="dk1"/>
              </a:buClr>
              <a:buSzPts val="900"/>
              <a:buFont typeface="Arial" panose="020B0604020202020204"/>
              <a:buNone/>
              <a:defRPr sz="9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56" name="Google Shape;56;p30"/>
          <p:cNvSpPr txBox="1">
            <a:spLocks noGrp="1"/>
          </p:cNvSpPr>
          <p:nvPr>
            <p:ph type="dt" idx="10"/>
          </p:nvPr>
        </p:nvSpPr>
        <p:spPr>
          <a:xfrm>
            <a:off x="609521" y="6356352"/>
            <a:ext cx="2844429"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57" name="Google Shape;57;p30"/>
          <p:cNvSpPr txBox="1">
            <a:spLocks noGrp="1"/>
          </p:cNvSpPr>
          <p:nvPr>
            <p:ph type="ftr" idx="11"/>
          </p:nvPr>
        </p:nvSpPr>
        <p:spPr>
          <a:xfrm>
            <a:off x="4165059" y="6356352"/>
            <a:ext cx="3860297"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58" name="Google Shape;58;p30"/>
          <p:cNvSpPr txBox="1">
            <a:spLocks noGrp="1"/>
          </p:cNvSpPr>
          <p:nvPr>
            <p:ph type="sldNum" idx="12"/>
          </p:nvPr>
        </p:nvSpPr>
        <p:spPr>
          <a:xfrm>
            <a:off x="8736463" y="6356352"/>
            <a:ext cx="2844429"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0" marR="0" lvl="1" indent="0" algn="l" rtl="0">
              <a:lnSpc>
                <a:spcPct val="100000"/>
              </a:lnSpc>
              <a:spcBef>
                <a:spcPts val="0"/>
              </a:spcBef>
              <a:spcAft>
                <a:spcPts val="0"/>
              </a:spcAft>
              <a:buClr>
                <a:srgbClr val="000000"/>
              </a:buClr>
              <a:buSzPts val="18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0" marR="0" lvl="2" indent="0" algn="l" rtl="0">
              <a:lnSpc>
                <a:spcPct val="100000"/>
              </a:lnSpc>
              <a:spcBef>
                <a:spcPts val="0"/>
              </a:spcBef>
              <a:spcAft>
                <a:spcPts val="0"/>
              </a:spcAft>
              <a:buClr>
                <a:srgbClr val="000000"/>
              </a:buClr>
              <a:buSzPts val="18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0" marR="0" lvl="3" indent="0" algn="l" rtl="0">
              <a:lnSpc>
                <a:spcPct val="100000"/>
              </a:lnSpc>
              <a:spcBef>
                <a:spcPts val="0"/>
              </a:spcBef>
              <a:spcAft>
                <a:spcPts val="0"/>
              </a:spcAft>
              <a:buClr>
                <a:srgbClr val="000000"/>
              </a:buClr>
              <a:buSzPts val="18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0" marR="0" lvl="4" indent="0" algn="l" rtl="0">
              <a:lnSpc>
                <a:spcPct val="100000"/>
              </a:lnSpc>
              <a:spcBef>
                <a:spcPts val="0"/>
              </a:spcBef>
              <a:spcAft>
                <a:spcPts val="0"/>
              </a:spcAft>
              <a:buClr>
                <a:srgbClr val="000000"/>
              </a:buClr>
              <a:buSzPts val="18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0" marR="0" lvl="5" indent="0" algn="l" rtl="0">
              <a:lnSpc>
                <a:spcPct val="100000"/>
              </a:lnSpc>
              <a:spcBef>
                <a:spcPts val="0"/>
              </a:spcBef>
              <a:spcAft>
                <a:spcPts val="0"/>
              </a:spcAft>
              <a:buClr>
                <a:srgbClr val="000000"/>
              </a:buClr>
              <a:buSzPts val="18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0" marR="0" lvl="6" indent="0" algn="l" rtl="0">
              <a:lnSpc>
                <a:spcPct val="100000"/>
              </a:lnSpc>
              <a:spcBef>
                <a:spcPts val="0"/>
              </a:spcBef>
              <a:spcAft>
                <a:spcPts val="0"/>
              </a:spcAft>
              <a:buClr>
                <a:srgbClr val="000000"/>
              </a:buClr>
              <a:buSzPts val="18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0" marR="0" lvl="7" indent="0" algn="l" rtl="0">
              <a:lnSpc>
                <a:spcPct val="100000"/>
              </a:lnSpc>
              <a:spcBef>
                <a:spcPts val="0"/>
              </a:spcBef>
              <a:spcAft>
                <a:spcPts val="0"/>
              </a:spcAft>
              <a:buClr>
                <a:srgbClr val="000000"/>
              </a:buClr>
              <a:buSzPts val="18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0" marR="0" lvl="8" indent="0" algn="l" rtl="0">
              <a:lnSpc>
                <a:spcPct val="100000"/>
              </a:lnSpc>
              <a:spcBef>
                <a:spcPts val="0"/>
              </a:spcBef>
              <a:spcAft>
                <a:spcPts val="0"/>
              </a:spcAft>
              <a:buClr>
                <a:srgbClr val="000000"/>
              </a:buClr>
              <a:buSzPts val="18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pPr marL="0" lvl="0" indent="0" algn="l" rtl="0">
              <a:spcBef>
                <a:spcPts val="0"/>
              </a:spcBef>
              <a:spcAft>
                <a:spcPts val="0"/>
              </a:spcAft>
              <a:buNone/>
            </a:pPr>
            <a:fld id="{00000000-1234-1234-1234-123412341234}" type="slidenum">
              <a:rPr lang="en-IN"/>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59"/>
        <p:cNvGrpSpPr/>
        <p:nvPr/>
      </p:nvGrpSpPr>
      <p:grpSpPr>
        <a:xfrm>
          <a:off x="0" y="0"/>
          <a:ext cx="0" cy="0"/>
          <a:chOff x="0" y="0"/>
          <a:chExt cx="0" cy="0"/>
        </a:xfrm>
      </p:grpSpPr>
      <p:sp>
        <p:nvSpPr>
          <p:cNvPr id="60" name="Google Shape;60;p31"/>
          <p:cNvSpPr txBox="1">
            <a:spLocks noGrp="1"/>
          </p:cNvSpPr>
          <p:nvPr>
            <p:ph type="title"/>
          </p:nvPr>
        </p:nvSpPr>
        <p:spPr>
          <a:xfrm>
            <a:off x="609522" y="274638"/>
            <a:ext cx="10971372" cy="11430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
        <p:nvSpPr>
          <p:cNvPr id="61" name="Google Shape;61;p31"/>
          <p:cNvSpPr txBox="1">
            <a:spLocks noGrp="1"/>
          </p:cNvSpPr>
          <p:nvPr>
            <p:ph type="body" idx="1"/>
          </p:nvPr>
        </p:nvSpPr>
        <p:spPr>
          <a:xfrm rot="5400000">
            <a:off x="3832227" y="-1622503"/>
            <a:ext cx="4525963" cy="10971372"/>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panose="020B0604020202020204"/>
              <a:buChar char="•"/>
              <a:defRPr sz="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406400" algn="l" rtl="0">
              <a:lnSpc>
                <a:spcPct val="100000"/>
              </a:lnSpc>
              <a:spcBef>
                <a:spcPts val="56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62" name="Google Shape;62;p31"/>
          <p:cNvSpPr txBox="1">
            <a:spLocks noGrp="1"/>
          </p:cNvSpPr>
          <p:nvPr>
            <p:ph type="dt" idx="10"/>
          </p:nvPr>
        </p:nvSpPr>
        <p:spPr>
          <a:xfrm>
            <a:off x="609521" y="6356352"/>
            <a:ext cx="2844429"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63" name="Google Shape;63;p31"/>
          <p:cNvSpPr txBox="1">
            <a:spLocks noGrp="1"/>
          </p:cNvSpPr>
          <p:nvPr>
            <p:ph type="ftr" idx="11"/>
          </p:nvPr>
        </p:nvSpPr>
        <p:spPr>
          <a:xfrm>
            <a:off x="4165059" y="6356352"/>
            <a:ext cx="3860297"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64" name="Google Shape;64;p31"/>
          <p:cNvSpPr txBox="1">
            <a:spLocks noGrp="1"/>
          </p:cNvSpPr>
          <p:nvPr>
            <p:ph type="sldNum" idx="12"/>
          </p:nvPr>
        </p:nvSpPr>
        <p:spPr>
          <a:xfrm>
            <a:off x="8736463" y="6356352"/>
            <a:ext cx="2844429"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0" marR="0" lvl="1" indent="0" algn="l" rtl="0">
              <a:lnSpc>
                <a:spcPct val="100000"/>
              </a:lnSpc>
              <a:spcBef>
                <a:spcPts val="0"/>
              </a:spcBef>
              <a:spcAft>
                <a:spcPts val="0"/>
              </a:spcAft>
              <a:buClr>
                <a:srgbClr val="000000"/>
              </a:buClr>
              <a:buSzPts val="18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0" marR="0" lvl="2" indent="0" algn="l" rtl="0">
              <a:lnSpc>
                <a:spcPct val="100000"/>
              </a:lnSpc>
              <a:spcBef>
                <a:spcPts val="0"/>
              </a:spcBef>
              <a:spcAft>
                <a:spcPts val="0"/>
              </a:spcAft>
              <a:buClr>
                <a:srgbClr val="000000"/>
              </a:buClr>
              <a:buSzPts val="18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0" marR="0" lvl="3" indent="0" algn="l" rtl="0">
              <a:lnSpc>
                <a:spcPct val="100000"/>
              </a:lnSpc>
              <a:spcBef>
                <a:spcPts val="0"/>
              </a:spcBef>
              <a:spcAft>
                <a:spcPts val="0"/>
              </a:spcAft>
              <a:buClr>
                <a:srgbClr val="000000"/>
              </a:buClr>
              <a:buSzPts val="18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0" marR="0" lvl="4" indent="0" algn="l" rtl="0">
              <a:lnSpc>
                <a:spcPct val="100000"/>
              </a:lnSpc>
              <a:spcBef>
                <a:spcPts val="0"/>
              </a:spcBef>
              <a:spcAft>
                <a:spcPts val="0"/>
              </a:spcAft>
              <a:buClr>
                <a:srgbClr val="000000"/>
              </a:buClr>
              <a:buSzPts val="18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0" marR="0" lvl="5" indent="0" algn="l" rtl="0">
              <a:lnSpc>
                <a:spcPct val="100000"/>
              </a:lnSpc>
              <a:spcBef>
                <a:spcPts val="0"/>
              </a:spcBef>
              <a:spcAft>
                <a:spcPts val="0"/>
              </a:spcAft>
              <a:buClr>
                <a:srgbClr val="000000"/>
              </a:buClr>
              <a:buSzPts val="18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0" marR="0" lvl="6" indent="0" algn="l" rtl="0">
              <a:lnSpc>
                <a:spcPct val="100000"/>
              </a:lnSpc>
              <a:spcBef>
                <a:spcPts val="0"/>
              </a:spcBef>
              <a:spcAft>
                <a:spcPts val="0"/>
              </a:spcAft>
              <a:buClr>
                <a:srgbClr val="000000"/>
              </a:buClr>
              <a:buSzPts val="18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0" marR="0" lvl="7" indent="0" algn="l" rtl="0">
              <a:lnSpc>
                <a:spcPct val="100000"/>
              </a:lnSpc>
              <a:spcBef>
                <a:spcPts val="0"/>
              </a:spcBef>
              <a:spcAft>
                <a:spcPts val="0"/>
              </a:spcAft>
              <a:buClr>
                <a:srgbClr val="000000"/>
              </a:buClr>
              <a:buSzPts val="18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0" marR="0" lvl="8" indent="0" algn="l" rtl="0">
              <a:lnSpc>
                <a:spcPct val="100000"/>
              </a:lnSpc>
              <a:spcBef>
                <a:spcPts val="0"/>
              </a:spcBef>
              <a:spcAft>
                <a:spcPts val="0"/>
              </a:spcAft>
              <a:buClr>
                <a:srgbClr val="000000"/>
              </a:buClr>
              <a:buSzPts val="18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pPr marL="0" lvl="0" indent="0" algn="l" rtl="0">
              <a:spcBef>
                <a:spcPts val="0"/>
              </a:spcBef>
              <a:spcAft>
                <a:spcPts val="0"/>
              </a:spcAft>
              <a:buNone/>
            </a:pPr>
            <a:fld id="{00000000-1234-1234-1234-123412341234}" type="slidenum">
              <a:rPr lang="en-IN"/>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5"/>
        <p:cNvGrpSpPr/>
        <p:nvPr/>
      </p:nvGrpSpPr>
      <p:grpSpPr>
        <a:xfrm>
          <a:off x="0" y="0"/>
          <a:ext cx="0" cy="0"/>
          <a:chOff x="0" y="0"/>
          <a:chExt cx="0" cy="0"/>
        </a:xfrm>
      </p:grpSpPr>
      <p:sp>
        <p:nvSpPr>
          <p:cNvPr id="66" name="Google Shape;66;p32"/>
          <p:cNvSpPr txBox="1">
            <a:spLocks noGrp="1"/>
          </p:cNvSpPr>
          <p:nvPr>
            <p:ph type="title"/>
          </p:nvPr>
        </p:nvSpPr>
        <p:spPr>
          <a:xfrm rot="5400000">
            <a:off x="7283709" y="1828981"/>
            <a:ext cx="5851525" cy="2742843"/>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
        <p:nvSpPr>
          <p:cNvPr id="67" name="Google Shape;67;p32"/>
          <p:cNvSpPr txBox="1">
            <a:spLocks noGrp="1"/>
          </p:cNvSpPr>
          <p:nvPr>
            <p:ph type="body" idx="1"/>
          </p:nvPr>
        </p:nvSpPr>
        <p:spPr>
          <a:xfrm rot="5400000">
            <a:off x="1696435" y="-812275"/>
            <a:ext cx="5851525" cy="8025356"/>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panose="020B0604020202020204"/>
              <a:buChar char="•"/>
              <a:defRPr sz="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406400" algn="l" rtl="0">
              <a:lnSpc>
                <a:spcPct val="100000"/>
              </a:lnSpc>
              <a:spcBef>
                <a:spcPts val="56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68" name="Google Shape;68;p32"/>
          <p:cNvSpPr txBox="1">
            <a:spLocks noGrp="1"/>
          </p:cNvSpPr>
          <p:nvPr>
            <p:ph type="dt" idx="10"/>
          </p:nvPr>
        </p:nvSpPr>
        <p:spPr>
          <a:xfrm>
            <a:off x="609521" y="6356352"/>
            <a:ext cx="2844429"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69" name="Google Shape;69;p32"/>
          <p:cNvSpPr txBox="1">
            <a:spLocks noGrp="1"/>
          </p:cNvSpPr>
          <p:nvPr>
            <p:ph type="ftr" idx="11"/>
          </p:nvPr>
        </p:nvSpPr>
        <p:spPr>
          <a:xfrm>
            <a:off x="4165059" y="6356352"/>
            <a:ext cx="3860297"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70" name="Google Shape;70;p32"/>
          <p:cNvSpPr txBox="1">
            <a:spLocks noGrp="1"/>
          </p:cNvSpPr>
          <p:nvPr>
            <p:ph type="sldNum" idx="12"/>
          </p:nvPr>
        </p:nvSpPr>
        <p:spPr>
          <a:xfrm>
            <a:off x="8736463" y="6356352"/>
            <a:ext cx="2844429"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0" marR="0" lvl="1" indent="0" algn="l" rtl="0">
              <a:lnSpc>
                <a:spcPct val="100000"/>
              </a:lnSpc>
              <a:spcBef>
                <a:spcPts val="0"/>
              </a:spcBef>
              <a:spcAft>
                <a:spcPts val="0"/>
              </a:spcAft>
              <a:buClr>
                <a:srgbClr val="000000"/>
              </a:buClr>
              <a:buSzPts val="18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0" marR="0" lvl="2" indent="0" algn="l" rtl="0">
              <a:lnSpc>
                <a:spcPct val="100000"/>
              </a:lnSpc>
              <a:spcBef>
                <a:spcPts val="0"/>
              </a:spcBef>
              <a:spcAft>
                <a:spcPts val="0"/>
              </a:spcAft>
              <a:buClr>
                <a:srgbClr val="000000"/>
              </a:buClr>
              <a:buSzPts val="18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0" marR="0" lvl="3" indent="0" algn="l" rtl="0">
              <a:lnSpc>
                <a:spcPct val="100000"/>
              </a:lnSpc>
              <a:spcBef>
                <a:spcPts val="0"/>
              </a:spcBef>
              <a:spcAft>
                <a:spcPts val="0"/>
              </a:spcAft>
              <a:buClr>
                <a:srgbClr val="000000"/>
              </a:buClr>
              <a:buSzPts val="18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0" marR="0" lvl="4" indent="0" algn="l" rtl="0">
              <a:lnSpc>
                <a:spcPct val="100000"/>
              </a:lnSpc>
              <a:spcBef>
                <a:spcPts val="0"/>
              </a:spcBef>
              <a:spcAft>
                <a:spcPts val="0"/>
              </a:spcAft>
              <a:buClr>
                <a:srgbClr val="000000"/>
              </a:buClr>
              <a:buSzPts val="18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0" marR="0" lvl="5" indent="0" algn="l" rtl="0">
              <a:lnSpc>
                <a:spcPct val="100000"/>
              </a:lnSpc>
              <a:spcBef>
                <a:spcPts val="0"/>
              </a:spcBef>
              <a:spcAft>
                <a:spcPts val="0"/>
              </a:spcAft>
              <a:buClr>
                <a:srgbClr val="000000"/>
              </a:buClr>
              <a:buSzPts val="18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0" marR="0" lvl="6" indent="0" algn="l" rtl="0">
              <a:lnSpc>
                <a:spcPct val="100000"/>
              </a:lnSpc>
              <a:spcBef>
                <a:spcPts val="0"/>
              </a:spcBef>
              <a:spcAft>
                <a:spcPts val="0"/>
              </a:spcAft>
              <a:buClr>
                <a:srgbClr val="000000"/>
              </a:buClr>
              <a:buSzPts val="18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0" marR="0" lvl="7" indent="0" algn="l" rtl="0">
              <a:lnSpc>
                <a:spcPct val="100000"/>
              </a:lnSpc>
              <a:spcBef>
                <a:spcPts val="0"/>
              </a:spcBef>
              <a:spcAft>
                <a:spcPts val="0"/>
              </a:spcAft>
              <a:buClr>
                <a:srgbClr val="000000"/>
              </a:buClr>
              <a:buSzPts val="18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0" marR="0" lvl="8" indent="0" algn="l" rtl="0">
              <a:lnSpc>
                <a:spcPct val="100000"/>
              </a:lnSpc>
              <a:spcBef>
                <a:spcPts val="0"/>
              </a:spcBef>
              <a:spcAft>
                <a:spcPts val="0"/>
              </a:spcAft>
              <a:buClr>
                <a:srgbClr val="000000"/>
              </a:buClr>
              <a:buSzPts val="18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pPr marL="0" lvl="0" indent="0" algn="l" rtl="0">
              <a:spcBef>
                <a:spcPts val="0"/>
              </a:spcBef>
              <a:spcAft>
                <a:spcPts val="0"/>
              </a:spcAft>
              <a:buNone/>
            </a:pPr>
            <a:fld id="{00000000-1234-1234-1234-123412341234}" type="slidenum">
              <a:rPr lang="en-IN"/>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2.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0"/>
          <p:cNvSpPr/>
          <p:nvPr/>
        </p:nvSpPr>
        <p:spPr>
          <a:xfrm>
            <a:off x="-16421" y="6557533"/>
            <a:ext cx="12208421" cy="301108"/>
          </a:xfrm>
          <a:prstGeom prst="rect">
            <a:avLst/>
          </a:prstGeom>
          <a:gradFill>
            <a:gsLst>
              <a:gs pos="0">
                <a:srgbClr val="FFFE04">
                  <a:alpha val="73333"/>
                </a:srgbClr>
              </a:gs>
              <a:gs pos="35000">
                <a:srgbClr val="FFFE04">
                  <a:alpha val="73333"/>
                </a:srgbClr>
              </a:gs>
              <a:gs pos="56000">
                <a:srgbClr val="17365D"/>
              </a:gs>
              <a:gs pos="77000">
                <a:srgbClr val="92D050"/>
              </a:gs>
              <a:gs pos="100000">
                <a:srgbClr val="92D050"/>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99"/>
              </a:buClr>
              <a:buSzPts val="1500"/>
              <a:buFont typeface="Calibri" panose="020F0502020204030204"/>
              <a:buNone/>
            </a:pPr>
            <a:r>
              <a:rPr lang="en-IN" sz="1500" b="1" i="0" u="none" strike="noStrike" cap="none">
                <a:solidFill>
                  <a:srgbClr val="000099"/>
                </a:solidFill>
                <a:latin typeface="Calibri" panose="020F0502020204030204"/>
                <a:ea typeface="Calibri" panose="020F0502020204030204"/>
                <a:cs typeface="Calibri" panose="020F0502020204030204"/>
                <a:sym typeface="Calibri" panose="020F0502020204030204"/>
              </a:rPr>
              <a:t>“Engineering a Sustainable Tomorrow, Innovating Beyond Borders."</a:t>
            </a:r>
            <a:endParaRPr sz="1500" b="1" i="0" u="none" strike="noStrike" cap="none">
              <a:solidFill>
                <a:srgbClr val="000099"/>
              </a:solidFill>
              <a:latin typeface="Calibri" panose="020F0502020204030204"/>
              <a:ea typeface="Calibri" panose="020F0502020204030204"/>
              <a:cs typeface="Calibri" panose="020F0502020204030204"/>
              <a:sym typeface="Calibri" panose="020F0502020204030204"/>
            </a:endParaRPr>
          </a:p>
        </p:txBody>
      </p:sp>
      <p:sp>
        <p:nvSpPr>
          <p:cNvPr id="7" name="Google Shape;7;p20"/>
          <p:cNvSpPr txBox="1"/>
          <p:nvPr/>
        </p:nvSpPr>
        <p:spPr>
          <a:xfrm>
            <a:off x="1685" y="575839"/>
            <a:ext cx="720080" cy="27699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IN" sz="1200" b="1" i="0" u="none" strike="noStrike" cap="none">
                <a:solidFill>
                  <a:srgbClr val="0039AC"/>
                </a:solidFill>
                <a:latin typeface="Times New Roman" panose="02020603050405020304"/>
                <a:ea typeface="Times New Roman" panose="02020603050405020304"/>
                <a:cs typeface="Times New Roman" panose="02020603050405020304"/>
                <a:sym typeface="Times New Roman" panose="02020603050405020304"/>
              </a:rPr>
              <a:t>KALA</a:t>
            </a:r>
            <a:endParaRPr sz="2800" b="1" i="0" u="none" strike="noStrike" cap="none">
              <a:solidFill>
                <a:srgbClr val="0039AC"/>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8" name="Google Shape;8;p20"/>
          <p:cNvPicPr preferRelativeResize="0"/>
          <p:nvPr/>
        </p:nvPicPr>
        <p:blipFill rotWithShape="1">
          <a:blip r:embed="rId6"/>
          <a:srcRect b="24057"/>
          <a:stretch>
            <a:fillRect/>
          </a:stretch>
        </p:blipFill>
        <p:spPr>
          <a:xfrm>
            <a:off x="118377" y="149475"/>
            <a:ext cx="458938" cy="475200"/>
          </a:xfrm>
          <a:prstGeom prst="rect">
            <a:avLst/>
          </a:prstGeom>
          <a:noFill/>
          <a:ln>
            <a:noFill/>
          </a:ln>
        </p:spPr>
      </p:pic>
      <p:pic>
        <p:nvPicPr>
          <p:cNvPr id="9" name="Google Shape;9;p20" descr="D:\D Data\Conference 2023\Kala iii Logo.jpg"/>
          <p:cNvPicPr preferRelativeResize="0"/>
          <p:nvPr/>
        </p:nvPicPr>
        <p:blipFill rotWithShape="1">
          <a:blip r:embed="rId7"/>
          <a:srcRect/>
          <a:stretch>
            <a:fillRect/>
          </a:stretch>
        </p:blipFill>
        <p:spPr>
          <a:xfrm rot="160382">
            <a:off x="11168288" y="149475"/>
            <a:ext cx="849541" cy="609595"/>
          </a:xfrm>
          <a:prstGeom prst="rect">
            <a:avLst/>
          </a:prstGeom>
          <a:noFill/>
          <a:ln>
            <a:noFill/>
          </a:ln>
        </p:spPr>
      </p:pic>
      <p:sp>
        <p:nvSpPr>
          <p:cNvPr id="10" name="Google Shape;10;p20"/>
          <p:cNvSpPr/>
          <p:nvPr/>
        </p:nvSpPr>
        <p:spPr>
          <a:xfrm>
            <a:off x="10271670" y="6615458"/>
            <a:ext cx="2000869" cy="24622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000"/>
              <a:buFont typeface="Arial" panose="020B0604020202020204"/>
              <a:buNone/>
            </a:pPr>
            <a:r>
              <a:rPr lang="en-IN" sz="1000" b="0" i="0" u="none" strike="noStrike" cap="none">
                <a:solidFill>
                  <a:srgbClr val="000099"/>
                </a:solidFill>
                <a:latin typeface="Calibri" panose="020F0502020204030204"/>
                <a:ea typeface="Calibri" panose="020F0502020204030204"/>
                <a:cs typeface="Calibri" panose="020F0502020204030204"/>
                <a:sym typeface="Calibri" panose="020F0502020204030204"/>
              </a:rPr>
              <a:t>All Rights Reserved @ KALA Group </a:t>
            </a:r>
            <a:endParaRPr sz="10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1" name="Google Shape;11;p20"/>
          <p:cNvSpPr txBox="1"/>
          <p:nvPr/>
        </p:nvSpPr>
        <p:spPr>
          <a:xfrm>
            <a:off x="-25474" y="6543450"/>
            <a:ext cx="121920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500"/>
              <a:buFont typeface="Arial" panose="020B0604020202020204"/>
              <a:buNone/>
            </a:pPr>
            <a:endParaRPr sz="1500" b="1" i="0" u="none" strike="noStrike" cap="none">
              <a:solidFill>
                <a:srgbClr val="000099"/>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67650" y="232365"/>
            <a:ext cx="9800216" cy="747897"/>
          </a:xfrm>
          <a:prstGeom prst="rect">
            <a:avLst/>
          </a:prstGeom>
          <a:solidFill>
            <a:srgbClr val="FFC000"/>
          </a:solidFill>
        </p:spPr>
        <p:txBody>
          <a:bodyPr wrap="square" tIns="27432" bIns="27432">
            <a:spAutoFit/>
          </a:bodyPr>
          <a:lstStyle/>
          <a:p>
            <a:pPr algn="ctr"/>
            <a:r>
              <a:rPr sz="4500" b="1" dirty="0">
                <a:solidFill>
                  <a:srgbClr val="000000"/>
                </a:solidFill>
                <a:latin typeface="Aptos"/>
              </a:rPr>
              <a:t>KCGL ERP - Part Detail Info (PDI)</a:t>
            </a:r>
          </a:p>
        </p:txBody>
      </p:sp>
      <p:sp>
        <p:nvSpPr>
          <p:cNvPr id="3" name="TextBox 2"/>
          <p:cNvSpPr txBox="1"/>
          <p:nvPr/>
        </p:nvSpPr>
        <p:spPr>
          <a:xfrm>
            <a:off x="1396342" y="1566314"/>
            <a:ext cx="8942832" cy="3840480"/>
          </a:xfrm>
          <a:prstGeom prst="rect">
            <a:avLst/>
          </a:prstGeom>
          <a:noFill/>
        </p:spPr>
        <p:txBody>
          <a:bodyPr wrap="square">
            <a:spAutoFit/>
          </a:bodyPr>
          <a:lstStyle/>
          <a:p>
            <a:r>
              <a:rPr sz="2000" b="0" dirty="0">
                <a:solidFill>
                  <a:srgbClr val="000000"/>
                </a:solidFill>
                <a:latin typeface="Aptos"/>
              </a:rPr>
              <a:t>How to use the </a:t>
            </a:r>
            <a:r>
              <a:rPr sz="2000" b="1" dirty="0">
                <a:solidFill>
                  <a:srgbClr val="000000"/>
                </a:solidFill>
                <a:latin typeface="Aptos"/>
              </a:rPr>
              <a:t>PDI (Part Detail Info)</a:t>
            </a:r>
            <a:r>
              <a:rPr sz="2000" b="0" dirty="0">
                <a:solidFill>
                  <a:srgbClr val="000000"/>
                </a:solidFill>
                <a:latin typeface="Aptos"/>
              </a:rPr>
              <a:t> module in the ERP</a:t>
            </a:r>
          </a:p>
          <a:p>
            <a:r>
              <a:rPr sz="2000" b="0" dirty="0">
                <a:solidFill>
                  <a:srgbClr val="000000"/>
                </a:solidFill>
                <a:latin typeface="Aptos"/>
              </a:rPr>
              <a:t>Covers two sections: </a:t>
            </a:r>
          </a:p>
          <a:p>
            <a:r>
              <a:rPr sz="2000" b="0" dirty="0">
                <a:solidFill>
                  <a:srgbClr val="000000"/>
                </a:solidFill>
                <a:latin typeface="Aptos"/>
              </a:rPr>
              <a:t>	1. </a:t>
            </a:r>
            <a:r>
              <a:rPr sz="2000" b="1" dirty="0">
                <a:solidFill>
                  <a:srgbClr val="000000"/>
                </a:solidFill>
                <a:latin typeface="Aptos"/>
              </a:rPr>
              <a:t>Quotation Template</a:t>
            </a:r>
            <a:r>
              <a:rPr sz="2000" b="0" dirty="0">
                <a:solidFill>
                  <a:srgbClr val="000000"/>
                </a:solidFill>
                <a:latin typeface="Aptos"/>
              </a:rPr>
              <a:t> - for all employees: select an Application Code, see the service parts / kits and export the quotation PDF</a:t>
            </a:r>
          </a:p>
          <a:p>
            <a:r>
              <a:rPr sz="2000" b="0" dirty="0">
                <a:solidFill>
                  <a:srgbClr val="000000"/>
                </a:solidFill>
                <a:latin typeface="Aptos"/>
              </a:rPr>
              <a:t>	2. </a:t>
            </a:r>
            <a:r>
              <a:rPr sz="2000" b="1" dirty="0">
                <a:solidFill>
                  <a:srgbClr val="000000"/>
                </a:solidFill>
                <a:latin typeface="Aptos"/>
              </a:rPr>
              <a:t>Master Report</a:t>
            </a:r>
            <a:r>
              <a:rPr sz="2000" b="0" dirty="0">
                <a:solidFill>
                  <a:srgbClr val="000000"/>
                </a:solidFill>
                <a:latin typeface="Aptos"/>
              </a:rPr>
              <a:t> - for Master Admin: reports, master data, app mapping, service names and Excel import</a:t>
            </a:r>
          </a:p>
          <a:p>
            <a:r>
              <a:rPr sz="2000" b="0" dirty="0">
                <a:solidFill>
                  <a:srgbClr val="000000"/>
                </a:solidFill>
                <a:latin typeface="Aptos"/>
              </a:rPr>
              <a:t>Every step has a screenshot with red markers ①, ②, ③ showing exactly where to click</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71600" y="283464"/>
            <a:ext cx="9454896" cy="411480"/>
          </a:xfrm>
          <a:prstGeom prst="rect">
            <a:avLst/>
          </a:prstGeom>
          <a:solidFill>
            <a:srgbClr val="FFC000"/>
          </a:solidFill>
        </p:spPr>
        <p:txBody>
          <a:bodyPr wrap="square" tIns="27432" bIns="27432">
            <a:spAutoFit/>
          </a:bodyPr>
          <a:lstStyle/>
          <a:p>
            <a:pPr algn="ctr"/>
            <a:r>
              <a:rPr sz="2100" b="1">
                <a:solidFill>
                  <a:srgbClr val="000000"/>
                </a:solidFill>
                <a:latin typeface="Aptos"/>
              </a:rPr>
              <a:t>PDI Guidelines and Terminologies</a:t>
            </a:r>
          </a:p>
        </p:txBody>
      </p:sp>
      <p:graphicFrame>
        <p:nvGraphicFramePr>
          <p:cNvPr id="3" name="Table 2"/>
          <p:cNvGraphicFramePr>
            <a:graphicFrameLocks noGrp="1"/>
          </p:cNvGraphicFramePr>
          <p:nvPr/>
        </p:nvGraphicFramePr>
        <p:xfrm>
          <a:off x="786384" y="960120"/>
          <a:ext cx="10616184" cy="1188720"/>
        </p:xfrm>
        <a:graphic>
          <a:graphicData uri="http://schemas.openxmlformats.org/drawingml/2006/table">
            <a:tbl>
              <a:tblPr firstRow="1" bandRow="1">
                <a:tableStyleId>{5C22544A-7EE6-4342-B048-85BDC9FD1C3A}</a:tableStyleId>
              </a:tblPr>
              <a:tblGrid>
                <a:gridCol w="2103120"/>
                <a:gridCol w="8513064"/>
              </a:tblGrid>
              <a:tr h="384048">
                <a:tc>
                  <a:txBody>
                    <a:bodyPr/>
                    <a:lstStyle/>
                    <a:p>
                      <a:r>
                        <a:rPr sz="1200" b="1">
                          <a:latin typeface="Aptos"/>
                        </a:rPr>
                        <a:t>Module</a:t>
                      </a:r>
                    </a:p>
                  </a:txBody>
                  <a:tcPr marT="18288" marB="18288"/>
                </a:tc>
                <a:tc>
                  <a:txBody>
                    <a:bodyPr/>
                    <a:lstStyle/>
                    <a:p>
                      <a:r>
                        <a:rPr sz="1200" b="1">
                          <a:latin typeface="Aptos"/>
                        </a:rPr>
                        <a:t>Part Detail Info (PDI) - service part library by Application Code</a:t>
                      </a:r>
                    </a:p>
                  </a:txBody>
                  <a:tcPr marT="18288" marB="18288"/>
                </a:tc>
              </a:tr>
              <a:tr h="384048">
                <a:tc>
                  <a:txBody>
                    <a:bodyPr/>
                    <a:lstStyle/>
                    <a:p>
                      <a:r>
                        <a:rPr sz="1200" b="1">
                          <a:latin typeface="Aptos"/>
                        </a:rPr>
                        <a:t>Purpose</a:t>
                      </a:r>
                    </a:p>
                  </a:txBody>
                  <a:tcPr marT="18288" marB="18288"/>
                </a:tc>
                <a:tc>
                  <a:txBody>
                    <a:bodyPr/>
                    <a:lstStyle/>
                    <a:p>
                      <a:r>
                        <a:rPr sz="1200" b="0">
                          <a:latin typeface="Aptos"/>
                        </a:rPr>
                        <a:t>Quickly find the service parts and kits of any Application Code, generate the quotation PDF, and (Master Admin) manage the master data behind it</a:t>
                      </a:r>
                    </a:p>
                  </a:txBody>
                  <a:tcPr marT="18288" marB="18288"/>
                </a:tc>
              </a:tr>
              <a:tr h="384048">
                <a:tc>
                  <a:txBody>
                    <a:bodyPr/>
                    <a:lstStyle/>
                    <a:p>
                      <a:r>
                        <a:rPr sz="1200" b="1">
                          <a:latin typeface="Aptos"/>
                        </a:rPr>
                        <a:t>Intended Users</a:t>
                      </a:r>
                    </a:p>
                  </a:txBody>
                  <a:tcPr marT="18288" marB="18288"/>
                </a:tc>
                <a:tc>
                  <a:txBody>
                    <a:bodyPr/>
                    <a:lstStyle/>
                    <a:p>
                      <a:r>
                        <a:rPr sz="1200" b="0">
                          <a:latin typeface="Aptos"/>
                        </a:rPr>
                        <a:t>All Employees (Quotation Template) / Master Admin (Master Report). Master Admin grants page access from the Profile page</a:t>
                      </a:r>
                    </a:p>
                  </a:txBody>
                  <a:tcPr marT="18288" marB="18288"/>
                </a:tc>
              </a:tr>
            </a:tbl>
          </a:graphicData>
        </a:graphic>
      </p:graphicFrame>
      <p:graphicFrame>
        <p:nvGraphicFramePr>
          <p:cNvPr id="4" name="Table 3"/>
          <p:cNvGraphicFramePr>
            <a:graphicFrameLocks noGrp="1"/>
          </p:cNvGraphicFramePr>
          <p:nvPr/>
        </p:nvGraphicFramePr>
        <p:xfrm>
          <a:off x="786384" y="2514600"/>
          <a:ext cx="10616184" cy="2304288"/>
        </p:xfrm>
        <a:graphic>
          <a:graphicData uri="http://schemas.openxmlformats.org/drawingml/2006/table">
            <a:tbl>
              <a:tblPr firstRow="1" bandRow="1">
                <a:tableStyleId>{5C22544A-7EE6-4342-B048-85BDC9FD1C3A}</a:tableStyleId>
              </a:tblPr>
              <a:tblGrid>
                <a:gridCol w="2103120"/>
                <a:gridCol w="8513064"/>
              </a:tblGrid>
              <a:tr h="384048">
                <a:tc>
                  <a:txBody>
                    <a:bodyPr/>
                    <a:lstStyle/>
                    <a:p>
                      <a:r>
                        <a:rPr sz="1200" b="1">
                          <a:latin typeface="Aptos"/>
                        </a:rPr>
                        <a:t>App Code</a:t>
                      </a:r>
                    </a:p>
                  </a:txBody>
                  <a:tcPr marT="18288" marB="18288"/>
                </a:tc>
                <a:tc>
                  <a:txBody>
                    <a:bodyPr/>
                    <a:lstStyle/>
                    <a:p>
                      <a:r>
                        <a:rPr sz="1200" b="1">
                          <a:latin typeface="Aptos"/>
                        </a:rPr>
                        <a:t>Application Code - one engine configuration (e.g., 04.1341). Everything in PDI is stored under it</a:t>
                      </a:r>
                    </a:p>
                  </a:txBody>
                  <a:tcPr marT="18288" marB="18288"/>
                </a:tc>
              </a:tr>
              <a:tr h="384048">
                <a:tc>
                  <a:txBody>
                    <a:bodyPr/>
                    <a:lstStyle/>
                    <a:p>
                      <a:r>
                        <a:rPr sz="1200" b="1">
                          <a:latin typeface="Aptos"/>
                        </a:rPr>
                        <a:t>Type of Service</a:t>
                      </a:r>
                    </a:p>
                  </a:txBody>
                  <a:tcPr marT="18288" marB="18288"/>
                </a:tc>
                <a:tc>
                  <a:txBody>
                    <a:bodyPr/>
                    <a:lstStyle/>
                    <a:p>
                      <a:r>
                        <a:rPr sz="1200" b="0">
                          <a:latin typeface="Aptos"/>
                        </a:rPr>
                        <a:t>Service interval such as 500 Hrs (B-Check). A part belongs to a service by its Service Hours</a:t>
                      </a:r>
                    </a:p>
                  </a:txBody>
                  <a:tcPr marT="18288" marB="18288"/>
                </a:tc>
              </a:tr>
              <a:tr h="384048">
                <a:tc>
                  <a:txBody>
                    <a:bodyPr/>
                    <a:lstStyle/>
                    <a:p>
                      <a:r>
                        <a:rPr sz="1200" b="1">
                          <a:latin typeface="Aptos"/>
                        </a:rPr>
                        <a:t>Part Line</a:t>
                      </a:r>
                    </a:p>
                  </a:txBody>
                  <a:tcPr marT="18288" marB="18288"/>
                </a:tc>
                <a:tc>
                  <a:txBody>
                    <a:bodyPr/>
                    <a:lstStyle/>
                    <a:p>
                      <a:r>
                        <a:rPr sz="1200" b="0">
                          <a:latin typeface="Aptos"/>
                        </a:rPr>
                        <a:t>One service part - Part Number, Description, Qty, Action and Svc Hrs</a:t>
                      </a:r>
                    </a:p>
                  </a:txBody>
                  <a:tcPr marT="18288" marB="18288"/>
                </a:tc>
              </a:tr>
              <a:tr h="384048">
                <a:tc>
                  <a:txBody>
                    <a:bodyPr/>
                    <a:lstStyle/>
                    <a:p>
                      <a:r>
                        <a:rPr sz="1200" b="1">
                          <a:latin typeface="Aptos"/>
                        </a:rPr>
                        <a:t>Kit</a:t>
                      </a:r>
                    </a:p>
                  </a:txBody>
                  <a:tcPr marT="18288" marB="18288"/>
                </a:tc>
                <a:tc>
                  <a:txBody>
                    <a:bodyPr/>
                    <a:lstStyle/>
                    <a:p>
                      <a:r>
                        <a:rPr sz="1200" b="0">
                          <a:latin typeface="Aptos"/>
                        </a:rPr>
                        <a:t>A maintenance kit holding its own copies of part lines. After import, parts and kits are independent</a:t>
                      </a:r>
                    </a:p>
                  </a:txBody>
                  <a:tcPr marT="18288" marB="18288"/>
                </a:tc>
              </a:tr>
              <a:tr h="384048">
                <a:tc>
                  <a:txBody>
                    <a:bodyPr/>
                    <a:lstStyle/>
                    <a:p>
                      <a:r>
                        <a:rPr sz="1200" b="1">
                          <a:latin typeface="Aptos"/>
                        </a:rPr>
                        <a:t>Action (R / C / T)</a:t>
                      </a:r>
                    </a:p>
                  </a:txBody>
                  <a:tcPr marT="18288" marB="18288"/>
                </a:tc>
                <a:tc>
                  <a:txBody>
                    <a:bodyPr/>
                    <a:lstStyle/>
                    <a:p>
                      <a:r>
                        <a:rPr sz="1200" b="0">
                          <a:latin typeface="Aptos"/>
                        </a:rPr>
                        <a:t>R = Replace, C = Check, T = Top-up - shown as coloured chips on every part line</a:t>
                      </a:r>
                    </a:p>
                  </a:txBody>
                  <a:tcPr marT="18288" marB="18288"/>
                </a:tc>
              </a:tr>
              <a:tr h="384048">
                <a:tc>
                  <a:txBody>
                    <a:bodyPr/>
                    <a:lstStyle/>
                    <a:p>
                      <a:r>
                        <a:rPr sz="1200" b="1">
                          <a:latin typeface="Aptos"/>
                        </a:rPr>
                        <a:t>Master Report tabs</a:t>
                      </a:r>
                    </a:p>
                  </a:txBody>
                  <a:tcPr marT="18288" marB="18288"/>
                </a:tc>
                <a:tc>
                  <a:txBody>
                    <a:bodyPr/>
                    <a:lstStyle/>
                    <a:p>
                      <a:r>
                        <a:rPr sz="1200" b="0">
                          <a:latin typeface="Aptos"/>
                        </a:rPr>
                        <a:t>Service Applicability, Search Activity Count, Master Data, App Mapping, Master of Service, Import Data</a:t>
                      </a:r>
                    </a:p>
                  </a:txBody>
                  <a:tcPr marT="18288" marB="18288"/>
                </a:tc>
              </a:tr>
            </a:tbl>
          </a:graphicData>
        </a:graphic>
      </p:graphicFrame>
      <p:sp>
        <p:nvSpPr>
          <p:cNvPr id="5" name="TextBox 4"/>
          <p:cNvSpPr txBox="1"/>
          <p:nvPr/>
        </p:nvSpPr>
        <p:spPr>
          <a:xfrm>
            <a:off x="786384" y="5257800"/>
            <a:ext cx="10616184" cy="822960"/>
          </a:xfrm>
          <a:prstGeom prst="rect">
            <a:avLst/>
          </a:prstGeom>
          <a:noFill/>
        </p:spPr>
        <p:txBody>
          <a:bodyPr wrap="square">
            <a:spAutoFit/>
          </a:bodyPr>
          <a:lstStyle/>
          <a:p>
            <a:r>
              <a:rPr sz="1300" b="1">
                <a:solidFill>
                  <a:srgbClr val="000000"/>
                </a:solidFill>
                <a:latin typeface="Aptos"/>
              </a:rPr>
              <a:t>Note: </a:t>
            </a:r>
            <a:r>
              <a:rPr sz="1300" b="0">
                <a:solidFill>
                  <a:srgbClr val="000000"/>
                </a:solidFill>
                <a:latin typeface="Aptos"/>
              </a:rPr>
              <a:t>The Part Detail Info menu appears only after the Master Admin grants access from Profile → Edit Employee → Part Detail Info Access. Employees see only the Quotation Template page; the Master Report page opens for the Master Admin only.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71600" y="283464"/>
            <a:ext cx="9454896" cy="411480"/>
          </a:xfrm>
          <a:prstGeom prst="rect">
            <a:avLst/>
          </a:prstGeom>
          <a:solidFill>
            <a:srgbClr val="FFC000"/>
          </a:solidFill>
        </p:spPr>
        <p:txBody>
          <a:bodyPr wrap="square" tIns="27432" bIns="27432">
            <a:spAutoFit/>
          </a:bodyPr>
          <a:lstStyle/>
          <a:p>
            <a:pPr algn="ctr"/>
            <a:r>
              <a:rPr sz="2100" b="1">
                <a:solidFill>
                  <a:srgbClr val="000000"/>
                </a:solidFill>
                <a:latin typeface="Aptos"/>
              </a:rPr>
              <a:t>PDI Steps - Section 1: Quotation Template (For All Employees)</a:t>
            </a:r>
          </a:p>
        </p:txBody>
      </p:sp>
      <p:sp>
        <p:nvSpPr>
          <p:cNvPr id="3" name="TextBox 2"/>
          <p:cNvSpPr txBox="1"/>
          <p:nvPr/>
        </p:nvSpPr>
        <p:spPr>
          <a:xfrm>
            <a:off x="1014984" y="804672"/>
            <a:ext cx="10698480" cy="685800"/>
          </a:xfrm>
          <a:prstGeom prst="rect">
            <a:avLst/>
          </a:prstGeom>
          <a:noFill/>
        </p:spPr>
        <p:txBody>
          <a:bodyPr wrap="square">
            <a:spAutoFit/>
          </a:bodyPr>
          <a:lstStyle/>
          <a:p>
            <a:r>
              <a:rPr sz="1400" b="1">
                <a:solidFill>
                  <a:srgbClr val="000000"/>
                </a:solidFill>
                <a:latin typeface="Aptos"/>
              </a:rPr>
              <a:t>Step 1:  </a:t>
            </a:r>
            <a:r>
              <a:rPr sz="1400" b="0">
                <a:solidFill>
                  <a:srgbClr val="000000"/>
                </a:solidFill>
                <a:latin typeface="Aptos"/>
              </a:rPr>
              <a:t>Log in to the portal. In the left menu, click </a:t>
            </a:r>
            <a:r>
              <a:rPr sz="1400" b="1">
                <a:solidFill>
                  <a:srgbClr val="000000"/>
                </a:solidFill>
                <a:latin typeface="Aptos"/>
              </a:rPr>
              <a:t>Part Detail Info</a:t>
            </a:r>
            <a:r>
              <a:rPr sz="1400" b="0">
                <a:solidFill>
                  <a:srgbClr val="000000"/>
                </a:solidFill>
                <a:latin typeface="Aptos"/>
              </a:rPr>
              <a:t> and then click </a:t>
            </a:r>
            <a:r>
              <a:rPr sz="1400" b="1">
                <a:solidFill>
                  <a:srgbClr val="000000"/>
                </a:solidFill>
                <a:latin typeface="Aptos"/>
              </a:rPr>
              <a:t>Quotation Template</a:t>
            </a:r>
            <a:r>
              <a:rPr sz="1400" b="0">
                <a:solidFill>
                  <a:srgbClr val="000000"/>
                </a:solidFill>
                <a:latin typeface="Aptos"/>
              </a:rPr>
              <a:t> ①. The menu is visible only when the Master Admin has granted you access to this page</a:t>
            </a:r>
          </a:p>
        </p:txBody>
      </p:sp>
      <p:pic>
        <p:nvPicPr>
          <p:cNvPr id="4" name="Picture 3" descr="emp_Screenshot 2026-08-06 181801.png"/>
          <p:cNvPicPr>
            <a:picLocks noChangeAspect="1"/>
          </p:cNvPicPr>
          <p:nvPr/>
        </p:nvPicPr>
        <p:blipFill>
          <a:blip r:embed="rId2"/>
          <a:stretch>
            <a:fillRect/>
          </a:stretch>
        </p:blipFill>
        <p:spPr>
          <a:xfrm>
            <a:off x="517366" y="1563624"/>
            <a:ext cx="11155680" cy="48872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71600" y="283464"/>
            <a:ext cx="9454896" cy="411480"/>
          </a:xfrm>
          <a:prstGeom prst="rect">
            <a:avLst/>
          </a:prstGeom>
          <a:solidFill>
            <a:srgbClr val="FFC000"/>
          </a:solidFill>
        </p:spPr>
        <p:txBody>
          <a:bodyPr wrap="square" tIns="27432" bIns="27432">
            <a:spAutoFit/>
          </a:bodyPr>
          <a:lstStyle/>
          <a:p>
            <a:pPr algn="ctr"/>
            <a:r>
              <a:rPr sz="2100" b="1">
                <a:solidFill>
                  <a:srgbClr val="000000"/>
                </a:solidFill>
                <a:latin typeface="Aptos"/>
              </a:rPr>
              <a:t>PDI Steps - Section 1: Quotation Template (For All Employees)</a:t>
            </a:r>
          </a:p>
        </p:txBody>
      </p:sp>
      <p:sp>
        <p:nvSpPr>
          <p:cNvPr id="3" name="TextBox 2"/>
          <p:cNvSpPr txBox="1"/>
          <p:nvPr/>
        </p:nvSpPr>
        <p:spPr>
          <a:xfrm>
            <a:off x="1014984" y="804672"/>
            <a:ext cx="10698480" cy="1051560"/>
          </a:xfrm>
          <a:prstGeom prst="rect">
            <a:avLst/>
          </a:prstGeom>
          <a:noFill/>
        </p:spPr>
        <p:txBody>
          <a:bodyPr wrap="square">
            <a:spAutoFit/>
          </a:bodyPr>
          <a:lstStyle/>
          <a:p>
            <a:r>
              <a:rPr sz="1400" b="1">
                <a:solidFill>
                  <a:srgbClr val="000000"/>
                </a:solidFill>
                <a:latin typeface="Aptos"/>
              </a:rPr>
              <a:t>Step 2:  </a:t>
            </a:r>
            <a:r>
              <a:rPr sz="1400" b="0">
                <a:solidFill>
                  <a:srgbClr val="000000"/>
                </a:solidFill>
                <a:latin typeface="Aptos"/>
              </a:rPr>
              <a:t>Select the </a:t>
            </a:r>
            <a:r>
              <a:rPr sz="1400" b="1">
                <a:solidFill>
                  <a:srgbClr val="000000"/>
                </a:solidFill>
                <a:latin typeface="Aptos"/>
              </a:rPr>
              <a:t>Application Code</a:t>
            </a:r>
            <a:r>
              <a:rPr sz="1400" b="0">
                <a:solidFill>
                  <a:srgbClr val="000000"/>
                </a:solidFill>
                <a:latin typeface="Aptos"/>
              </a:rPr>
              <a:t> from the dropdown ① - you can search by App Code, KVA or Emission Norm. Then tick the required </a:t>
            </a:r>
            <a:r>
              <a:rPr sz="1400" b="1">
                <a:solidFill>
                  <a:srgbClr val="000000"/>
                </a:solidFill>
                <a:latin typeface="Aptos"/>
              </a:rPr>
              <a:t>Type of Service</a:t>
            </a:r>
            <a:r>
              <a:rPr sz="1400" b="0">
                <a:solidFill>
                  <a:srgbClr val="000000"/>
                </a:solidFill>
                <a:latin typeface="Aptos"/>
              </a:rPr>
              <a:t> ② (500 Hrs etc.). The page shows the engine details strip and two sections - click </a:t>
            </a:r>
            <a:r>
              <a:rPr sz="1400" b="1">
                <a:solidFill>
                  <a:srgbClr val="000000"/>
                </a:solidFill>
                <a:latin typeface="Aptos"/>
              </a:rPr>
              <a:t>Service Part Consumable Details</a:t>
            </a:r>
            <a:r>
              <a:rPr sz="1400" b="0">
                <a:solidFill>
                  <a:srgbClr val="000000"/>
                </a:solidFill>
                <a:latin typeface="Aptos"/>
              </a:rPr>
              <a:t> ③ or </a:t>
            </a:r>
            <a:r>
              <a:rPr sz="1400" b="1">
                <a:solidFill>
                  <a:srgbClr val="000000"/>
                </a:solidFill>
                <a:latin typeface="Aptos"/>
              </a:rPr>
              <a:t>Service Part Kit Consumable Details</a:t>
            </a:r>
            <a:r>
              <a:rPr sz="1400" b="0">
                <a:solidFill>
                  <a:srgbClr val="000000"/>
                </a:solidFill>
                <a:latin typeface="Aptos"/>
              </a:rPr>
              <a:t> ④ to expand it (Action chips: R = Replace, C = Check, T = Top-up). Then click </a:t>
            </a:r>
            <a:r>
              <a:rPr sz="1400" b="1">
                <a:solidFill>
                  <a:srgbClr val="000000"/>
                </a:solidFill>
                <a:latin typeface="Aptos"/>
              </a:rPr>
              <a:t>Export PDF</a:t>
            </a:r>
            <a:r>
              <a:rPr sz="1400" b="0">
                <a:solidFill>
                  <a:srgbClr val="000000"/>
                </a:solidFill>
                <a:latin typeface="Aptos"/>
              </a:rPr>
              <a:t> ⑤</a:t>
            </a:r>
          </a:p>
        </p:txBody>
      </p:sp>
      <p:pic>
        <p:nvPicPr>
          <p:cNvPr id="4" name="Picture 3" descr="emp_Screenshot 2026-08-06 181820.png"/>
          <p:cNvPicPr>
            <a:picLocks noChangeAspect="1"/>
          </p:cNvPicPr>
          <p:nvPr/>
        </p:nvPicPr>
        <p:blipFill>
          <a:blip r:embed="rId2"/>
          <a:stretch>
            <a:fillRect/>
          </a:stretch>
        </p:blipFill>
        <p:spPr>
          <a:xfrm>
            <a:off x="875455" y="1929384"/>
            <a:ext cx="10439501" cy="458114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71600" y="283464"/>
            <a:ext cx="9454896" cy="411480"/>
          </a:xfrm>
          <a:prstGeom prst="rect">
            <a:avLst/>
          </a:prstGeom>
          <a:solidFill>
            <a:srgbClr val="FFC000"/>
          </a:solidFill>
        </p:spPr>
        <p:txBody>
          <a:bodyPr wrap="square" tIns="27432" bIns="27432">
            <a:spAutoFit/>
          </a:bodyPr>
          <a:lstStyle/>
          <a:p>
            <a:pPr algn="ctr"/>
            <a:r>
              <a:rPr sz="2100" b="1">
                <a:solidFill>
                  <a:srgbClr val="000000"/>
                </a:solidFill>
                <a:latin typeface="Aptos"/>
              </a:rPr>
              <a:t>PDI Steps - Section 1: Quotation Template (For All Employees)</a:t>
            </a:r>
          </a:p>
        </p:txBody>
      </p:sp>
      <p:sp>
        <p:nvSpPr>
          <p:cNvPr id="3" name="TextBox 2"/>
          <p:cNvSpPr txBox="1"/>
          <p:nvPr/>
        </p:nvSpPr>
        <p:spPr>
          <a:xfrm>
            <a:off x="1014984" y="804672"/>
            <a:ext cx="10698480" cy="914400"/>
          </a:xfrm>
          <a:prstGeom prst="rect">
            <a:avLst/>
          </a:prstGeom>
          <a:noFill/>
        </p:spPr>
        <p:txBody>
          <a:bodyPr wrap="square">
            <a:spAutoFit/>
          </a:bodyPr>
          <a:lstStyle/>
          <a:p>
            <a:r>
              <a:rPr sz="1400" b="1">
                <a:solidFill>
                  <a:srgbClr val="000000"/>
                </a:solidFill>
                <a:latin typeface="Aptos"/>
              </a:rPr>
              <a:t>Step 3:  </a:t>
            </a:r>
            <a:r>
              <a:rPr sz="1400" b="0">
                <a:solidFill>
                  <a:srgbClr val="000000"/>
                </a:solidFill>
                <a:latin typeface="Aptos"/>
              </a:rPr>
              <a:t>After clicking </a:t>
            </a:r>
            <a:r>
              <a:rPr sz="1400" b="1">
                <a:solidFill>
                  <a:srgbClr val="000000"/>
                </a:solidFill>
                <a:latin typeface="Aptos"/>
              </a:rPr>
              <a:t>Export PDF</a:t>
            </a:r>
            <a:r>
              <a:rPr sz="1400" b="0">
                <a:solidFill>
                  <a:srgbClr val="000000"/>
                </a:solidFill>
                <a:latin typeface="Aptos"/>
              </a:rPr>
              <a:t>, a preview of the service template opens with the company header, the code details and the part / kit table of the open section. Click </a:t>
            </a:r>
            <a:r>
              <a:rPr sz="1400" b="1">
                <a:solidFill>
                  <a:srgbClr val="000000"/>
                </a:solidFill>
                <a:latin typeface="Aptos"/>
              </a:rPr>
              <a:t>Print / Save as PDF</a:t>
            </a:r>
            <a:r>
              <a:rPr sz="1400" b="0">
                <a:solidFill>
                  <a:srgbClr val="000000"/>
                </a:solidFill>
                <a:latin typeface="Aptos"/>
              </a:rPr>
              <a:t> ① to print or save it. The sheet is watermarked “FOR INTERNAL USE ONLY” - it is for internal training and reference purpose only</a:t>
            </a:r>
          </a:p>
        </p:txBody>
      </p:sp>
      <p:pic>
        <p:nvPicPr>
          <p:cNvPr id="4" name="Picture 3" descr="emp_Screenshot 2026-08-06 181848.png"/>
          <p:cNvPicPr>
            <a:picLocks noChangeAspect="1"/>
          </p:cNvPicPr>
          <p:nvPr/>
        </p:nvPicPr>
        <p:blipFill>
          <a:blip r:embed="rId2"/>
          <a:stretch>
            <a:fillRect/>
          </a:stretch>
        </p:blipFill>
        <p:spPr>
          <a:xfrm>
            <a:off x="745966" y="1792224"/>
            <a:ext cx="10698480" cy="471830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71600" y="283464"/>
            <a:ext cx="9454896" cy="411480"/>
          </a:xfrm>
          <a:prstGeom prst="rect">
            <a:avLst/>
          </a:prstGeom>
          <a:solidFill>
            <a:srgbClr val="FFC000"/>
          </a:solidFill>
        </p:spPr>
        <p:txBody>
          <a:bodyPr wrap="square" tIns="27432" bIns="27432">
            <a:spAutoFit/>
          </a:bodyPr>
          <a:lstStyle/>
          <a:p>
            <a:pPr algn="ctr"/>
            <a:r>
              <a:rPr sz="2100" b="1">
                <a:solidFill>
                  <a:srgbClr val="000000"/>
                </a:solidFill>
                <a:latin typeface="Aptos"/>
              </a:rPr>
              <a:t>PDI Steps - Section 2: Master Report (Master Admin Only)</a:t>
            </a:r>
          </a:p>
        </p:txBody>
      </p:sp>
      <p:sp>
        <p:nvSpPr>
          <p:cNvPr id="3" name="TextBox 2"/>
          <p:cNvSpPr txBox="1"/>
          <p:nvPr/>
        </p:nvSpPr>
        <p:spPr>
          <a:xfrm>
            <a:off x="1014984" y="804672"/>
            <a:ext cx="10698480" cy="1051560"/>
          </a:xfrm>
          <a:prstGeom prst="rect">
            <a:avLst/>
          </a:prstGeom>
          <a:noFill/>
        </p:spPr>
        <p:txBody>
          <a:bodyPr wrap="square">
            <a:spAutoFit/>
          </a:bodyPr>
          <a:lstStyle/>
          <a:p>
            <a:r>
              <a:rPr sz="1400" b="1">
                <a:solidFill>
                  <a:srgbClr val="000000"/>
                </a:solidFill>
                <a:latin typeface="Aptos"/>
              </a:rPr>
              <a:t>Step 1:  </a:t>
            </a:r>
            <a:r>
              <a:rPr sz="1400" b="0">
                <a:solidFill>
                  <a:srgbClr val="000000"/>
                </a:solidFill>
                <a:latin typeface="Aptos"/>
              </a:rPr>
              <a:t>Open </a:t>
            </a:r>
            <a:r>
              <a:rPr sz="1400" b="1">
                <a:solidFill>
                  <a:srgbClr val="000000"/>
                </a:solidFill>
                <a:latin typeface="Aptos"/>
              </a:rPr>
              <a:t>Part Detail Info → Master Report</a:t>
            </a:r>
            <a:r>
              <a:rPr sz="1400" b="0">
                <a:solidFill>
                  <a:srgbClr val="000000"/>
                </a:solidFill>
                <a:latin typeface="Aptos"/>
              </a:rPr>
              <a:t>. The first tab </a:t>
            </a:r>
            <a:r>
              <a:rPr sz="1400" b="1">
                <a:solidFill>
                  <a:srgbClr val="000000"/>
                </a:solidFill>
                <a:latin typeface="Aptos"/>
              </a:rPr>
              <a:t>Service Applicability</a:t>
            </a:r>
            <a:r>
              <a:rPr sz="1400" b="0">
                <a:solidFill>
                  <a:srgbClr val="000000"/>
                </a:solidFill>
                <a:latin typeface="Aptos"/>
              </a:rPr>
              <a:t> ① shows the Service Coverage Matrix - every App Code against every service interval (✓ = parts available, ✗ = none), with Engine Model, Segment, KVA, Emission Norm and Commissioning Date. Use the field-wise search and segment filter ② and column sorting; click </a:t>
            </a:r>
            <a:r>
              <a:rPr sz="1400" b="1">
                <a:solidFill>
                  <a:srgbClr val="000000"/>
                </a:solidFill>
                <a:latin typeface="Aptos"/>
              </a:rPr>
              <a:t>Export</a:t>
            </a:r>
            <a:r>
              <a:rPr sz="1400" b="0">
                <a:solidFill>
                  <a:srgbClr val="000000"/>
                </a:solidFill>
                <a:latin typeface="Aptos"/>
              </a:rPr>
              <a:t> ③ for the Excel report</a:t>
            </a:r>
          </a:p>
        </p:txBody>
      </p:sp>
      <p:pic>
        <p:nvPicPr>
          <p:cNvPr id="4" name="Picture 3" descr="adm_Screenshot 2026-08-06 181920.png"/>
          <p:cNvPicPr>
            <a:picLocks noChangeAspect="1"/>
          </p:cNvPicPr>
          <p:nvPr/>
        </p:nvPicPr>
        <p:blipFill>
          <a:blip r:embed="rId2"/>
          <a:stretch>
            <a:fillRect/>
          </a:stretch>
        </p:blipFill>
        <p:spPr>
          <a:xfrm>
            <a:off x="875455" y="1929384"/>
            <a:ext cx="10439501" cy="458114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71600" y="283464"/>
            <a:ext cx="9454896" cy="411480"/>
          </a:xfrm>
          <a:prstGeom prst="rect">
            <a:avLst/>
          </a:prstGeom>
          <a:solidFill>
            <a:srgbClr val="FFC000"/>
          </a:solidFill>
        </p:spPr>
        <p:txBody>
          <a:bodyPr wrap="square" tIns="27432" bIns="27432">
            <a:spAutoFit/>
          </a:bodyPr>
          <a:lstStyle/>
          <a:p>
            <a:pPr algn="ctr"/>
            <a:r>
              <a:rPr sz="2100" b="1">
                <a:solidFill>
                  <a:srgbClr val="000000"/>
                </a:solidFill>
                <a:latin typeface="Aptos"/>
              </a:rPr>
              <a:t>PDI Steps - Section 2: Master Report (Master Admin Only)</a:t>
            </a:r>
          </a:p>
        </p:txBody>
      </p:sp>
      <p:sp>
        <p:nvSpPr>
          <p:cNvPr id="3" name="TextBox 2"/>
          <p:cNvSpPr txBox="1"/>
          <p:nvPr/>
        </p:nvSpPr>
        <p:spPr>
          <a:xfrm>
            <a:off x="1014984" y="804672"/>
            <a:ext cx="10698480" cy="914400"/>
          </a:xfrm>
          <a:prstGeom prst="rect">
            <a:avLst/>
          </a:prstGeom>
          <a:noFill/>
        </p:spPr>
        <p:txBody>
          <a:bodyPr wrap="square">
            <a:spAutoFit/>
          </a:bodyPr>
          <a:lstStyle/>
          <a:p>
            <a:r>
              <a:rPr sz="1400" b="1">
                <a:solidFill>
                  <a:srgbClr val="000000"/>
                </a:solidFill>
                <a:latin typeface="Aptos"/>
              </a:rPr>
              <a:t>Step 2:  Search Activity Count</a:t>
            </a:r>
            <a:r>
              <a:rPr sz="1400" b="0">
                <a:solidFill>
                  <a:srgbClr val="000000"/>
                </a:solidFill>
                <a:latin typeface="Aptos"/>
              </a:rPr>
              <a:t> ① tab shows the Activity Log - which employee looked up which App Code, on which date and how many times (Visits). Every code selection on the Quotation Template page is logged automatically. Filter by date range, employee or segment ② and click </a:t>
            </a:r>
            <a:r>
              <a:rPr sz="1400" b="1">
                <a:solidFill>
                  <a:srgbClr val="000000"/>
                </a:solidFill>
                <a:latin typeface="Aptos"/>
              </a:rPr>
              <a:t>Export</a:t>
            </a:r>
            <a:r>
              <a:rPr sz="1400" b="0">
                <a:solidFill>
                  <a:srgbClr val="000000"/>
                </a:solidFill>
                <a:latin typeface="Aptos"/>
              </a:rPr>
              <a:t> ③ for the Excel report</a:t>
            </a:r>
          </a:p>
        </p:txBody>
      </p:sp>
      <p:pic>
        <p:nvPicPr>
          <p:cNvPr id="4" name="Picture 3" descr="adm_Screenshot 2026-08-06 181932.png"/>
          <p:cNvPicPr>
            <a:picLocks noChangeAspect="1"/>
          </p:cNvPicPr>
          <p:nvPr/>
        </p:nvPicPr>
        <p:blipFill>
          <a:blip r:embed="rId2"/>
          <a:stretch>
            <a:fillRect/>
          </a:stretch>
        </p:blipFill>
        <p:spPr>
          <a:xfrm>
            <a:off x="763679" y="1792224"/>
            <a:ext cx="10663054" cy="471830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71600" y="283464"/>
            <a:ext cx="9454896" cy="411480"/>
          </a:xfrm>
          <a:prstGeom prst="rect">
            <a:avLst/>
          </a:prstGeom>
          <a:solidFill>
            <a:srgbClr val="FFC000"/>
          </a:solidFill>
        </p:spPr>
        <p:txBody>
          <a:bodyPr wrap="square" tIns="27432" bIns="27432">
            <a:spAutoFit/>
          </a:bodyPr>
          <a:lstStyle/>
          <a:p>
            <a:pPr algn="ctr"/>
            <a:r>
              <a:rPr sz="2100" b="1">
                <a:solidFill>
                  <a:srgbClr val="000000"/>
                </a:solidFill>
                <a:latin typeface="Aptos"/>
              </a:rPr>
              <a:t>PDI Steps - Section 2: Master Report (Master Admin Only)</a:t>
            </a:r>
          </a:p>
        </p:txBody>
      </p:sp>
      <p:sp>
        <p:nvSpPr>
          <p:cNvPr id="3" name="TextBox 2"/>
          <p:cNvSpPr txBox="1"/>
          <p:nvPr/>
        </p:nvSpPr>
        <p:spPr>
          <a:xfrm>
            <a:off x="1014984" y="804672"/>
            <a:ext cx="10698480" cy="1051560"/>
          </a:xfrm>
          <a:prstGeom prst="rect">
            <a:avLst/>
          </a:prstGeom>
          <a:noFill/>
        </p:spPr>
        <p:txBody>
          <a:bodyPr wrap="square">
            <a:spAutoFit/>
          </a:bodyPr>
          <a:lstStyle/>
          <a:p>
            <a:r>
              <a:rPr sz="1400" b="1">
                <a:solidFill>
                  <a:srgbClr val="000000"/>
                </a:solidFill>
                <a:latin typeface="Aptos"/>
              </a:rPr>
              <a:t>Step 3:  Master Data</a:t>
            </a:r>
            <a:r>
              <a:rPr sz="1400" b="0">
                <a:solidFill>
                  <a:srgbClr val="000000"/>
                </a:solidFill>
                <a:latin typeface="Aptos"/>
              </a:rPr>
              <a:t> ① tab shows the full master sheet - Application Code details with all part lines and kit details, exactly like the master Excel. Search field-wise (including Part / Kit) ②, tick rows to export selected or use </a:t>
            </a:r>
            <a:r>
              <a:rPr sz="1400" b="1">
                <a:solidFill>
                  <a:srgbClr val="000000"/>
                </a:solidFill>
                <a:latin typeface="Aptos"/>
              </a:rPr>
              <a:t>Export all</a:t>
            </a:r>
            <a:r>
              <a:rPr sz="1400" b="0">
                <a:solidFill>
                  <a:srgbClr val="000000"/>
                </a:solidFill>
                <a:latin typeface="Aptos"/>
              </a:rPr>
              <a:t> ③, and use </a:t>
            </a:r>
            <a:r>
              <a:rPr sz="1400" b="1">
                <a:solidFill>
                  <a:srgbClr val="000000"/>
                </a:solidFill>
                <a:latin typeface="Aptos"/>
              </a:rPr>
              <a:t>Add Application Code</a:t>
            </a:r>
            <a:r>
              <a:rPr sz="1400" b="0">
                <a:solidFill>
                  <a:srgbClr val="000000"/>
                </a:solidFill>
                <a:latin typeface="Aptos"/>
              </a:rPr>
              <a:t> ④ / </a:t>
            </a:r>
            <a:r>
              <a:rPr sz="1400" b="1">
                <a:solidFill>
                  <a:srgbClr val="000000"/>
                </a:solidFill>
                <a:latin typeface="Aptos"/>
              </a:rPr>
              <a:t>Edit</a:t>
            </a:r>
            <a:r>
              <a:rPr sz="1400" b="0">
                <a:solidFill>
                  <a:srgbClr val="000000"/>
                </a:solidFill>
                <a:latin typeface="Aptos"/>
              </a:rPr>
              <a:t> / </a:t>
            </a:r>
            <a:r>
              <a:rPr sz="1400" b="1">
                <a:solidFill>
                  <a:srgbClr val="000000"/>
                </a:solidFill>
                <a:latin typeface="Aptos"/>
              </a:rPr>
              <a:t>Delete</a:t>
            </a:r>
            <a:r>
              <a:rPr sz="1400" b="0">
                <a:solidFill>
                  <a:srgbClr val="000000"/>
                </a:solidFill>
                <a:latin typeface="Aptos"/>
              </a:rPr>
              <a:t> to manage records. The Add form also has a guided flow to build kits from the part lines</a:t>
            </a:r>
          </a:p>
        </p:txBody>
      </p:sp>
      <p:pic>
        <p:nvPicPr>
          <p:cNvPr id="4" name="Picture 3" descr="adm_Screenshot 2026-08-06 181942.png"/>
          <p:cNvPicPr>
            <a:picLocks noChangeAspect="1"/>
          </p:cNvPicPr>
          <p:nvPr/>
        </p:nvPicPr>
        <p:blipFill>
          <a:blip r:embed="rId2"/>
          <a:stretch>
            <a:fillRect/>
          </a:stretch>
        </p:blipFill>
        <p:spPr>
          <a:xfrm>
            <a:off x="875455" y="1929384"/>
            <a:ext cx="10439501" cy="458114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71600" y="283464"/>
            <a:ext cx="9454896" cy="411480"/>
          </a:xfrm>
          <a:prstGeom prst="rect">
            <a:avLst/>
          </a:prstGeom>
          <a:solidFill>
            <a:srgbClr val="FFC000"/>
          </a:solidFill>
        </p:spPr>
        <p:txBody>
          <a:bodyPr wrap="square" tIns="27432" bIns="27432">
            <a:spAutoFit/>
          </a:bodyPr>
          <a:lstStyle/>
          <a:p>
            <a:pPr algn="ctr"/>
            <a:r>
              <a:rPr sz="2100" b="1">
                <a:solidFill>
                  <a:srgbClr val="000000"/>
                </a:solidFill>
                <a:latin typeface="Aptos"/>
              </a:rPr>
              <a:t>PDI Steps - Section 2: Master Report (Master Admin Only)</a:t>
            </a:r>
          </a:p>
        </p:txBody>
      </p:sp>
      <p:sp>
        <p:nvSpPr>
          <p:cNvPr id="3" name="TextBox 2"/>
          <p:cNvSpPr txBox="1"/>
          <p:nvPr/>
        </p:nvSpPr>
        <p:spPr>
          <a:xfrm>
            <a:off x="1014984" y="804672"/>
            <a:ext cx="10698480" cy="1051560"/>
          </a:xfrm>
          <a:prstGeom prst="rect">
            <a:avLst/>
          </a:prstGeom>
          <a:noFill/>
        </p:spPr>
        <p:txBody>
          <a:bodyPr wrap="square">
            <a:spAutoFit/>
          </a:bodyPr>
          <a:lstStyle/>
          <a:p>
            <a:r>
              <a:rPr sz="1400" b="1">
                <a:solidFill>
                  <a:srgbClr val="000000"/>
                </a:solidFill>
                <a:latin typeface="Aptos"/>
              </a:rPr>
              <a:t>Step 4:  App Mapping</a:t>
            </a:r>
            <a:r>
              <a:rPr sz="1400" b="0">
                <a:solidFill>
                  <a:srgbClr val="000000"/>
                </a:solidFill>
                <a:latin typeface="Aptos"/>
              </a:rPr>
              <a:t> ① tab compares the App Codes of Customers Data Hub (Asset Detailed, active assets) with the PDI master. Click a stat box ② - All Application Codes, Remaining, Total in Master, Match in Master, Not Matched - to see that list with asset counts. Use </a:t>
            </a:r>
            <a:r>
              <a:rPr sz="1400" b="1">
                <a:solidFill>
                  <a:srgbClr val="000000"/>
                </a:solidFill>
                <a:latin typeface="Aptos"/>
              </a:rPr>
              <a:t>Add</a:t>
            </a:r>
            <a:r>
              <a:rPr sz="1400" b="0">
                <a:solidFill>
                  <a:srgbClr val="000000"/>
                </a:solidFill>
                <a:latin typeface="Aptos"/>
              </a:rPr>
              <a:t> on a remaining code to add it with prefilled details, or click a code to view / edit it. </a:t>
            </a:r>
            <a:r>
              <a:rPr sz="1400" b="1">
                <a:solidFill>
                  <a:srgbClr val="000000"/>
                </a:solidFill>
                <a:latin typeface="Aptos"/>
              </a:rPr>
              <a:t>Export</a:t>
            </a:r>
            <a:r>
              <a:rPr sz="1400" b="0">
                <a:solidFill>
                  <a:srgbClr val="000000"/>
                </a:solidFill>
                <a:latin typeface="Aptos"/>
              </a:rPr>
              <a:t> gives one Excel with all five lists</a:t>
            </a:r>
          </a:p>
        </p:txBody>
      </p:sp>
      <p:pic>
        <p:nvPicPr>
          <p:cNvPr id="4" name="Picture 3" descr="adm_Screenshot 2026-08-06 181950.png"/>
          <p:cNvPicPr>
            <a:picLocks noChangeAspect="1"/>
          </p:cNvPicPr>
          <p:nvPr/>
        </p:nvPicPr>
        <p:blipFill>
          <a:blip r:embed="rId2"/>
          <a:stretch>
            <a:fillRect/>
          </a:stretch>
        </p:blipFill>
        <p:spPr>
          <a:xfrm>
            <a:off x="884155" y="1929384"/>
            <a:ext cx="10422102" cy="458114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71600" y="283464"/>
            <a:ext cx="9454896" cy="411480"/>
          </a:xfrm>
          <a:prstGeom prst="rect">
            <a:avLst/>
          </a:prstGeom>
          <a:solidFill>
            <a:srgbClr val="FFC000"/>
          </a:solidFill>
        </p:spPr>
        <p:txBody>
          <a:bodyPr wrap="square" tIns="27432" bIns="27432">
            <a:spAutoFit/>
          </a:bodyPr>
          <a:lstStyle/>
          <a:p>
            <a:pPr algn="ctr"/>
            <a:r>
              <a:rPr sz="2100" b="1">
                <a:solidFill>
                  <a:srgbClr val="000000"/>
                </a:solidFill>
                <a:latin typeface="Aptos"/>
              </a:rPr>
              <a:t>PDI Steps - Section 2: Master Report (Master Admin Only)</a:t>
            </a:r>
          </a:p>
        </p:txBody>
      </p:sp>
      <p:sp>
        <p:nvSpPr>
          <p:cNvPr id="3" name="TextBox 2"/>
          <p:cNvSpPr txBox="1"/>
          <p:nvPr/>
        </p:nvSpPr>
        <p:spPr>
          <a:xfrm>
            <a:off x="1014984" y="804672"/>
            <a:ext cx="10698480" cy="914400"/>
          </a:xfrm>
          <a:prstGeom prst="rect">
            <a:avLst/>
          </a:prstGeom>
          <a:noFill/>
        </p:spPr>
        <p:txBody>
          <a:bodyPr wrap="square">
            <a:spAutoFit/>
          </a:bodyPr>
          <a:lstStyle/>
          <a:p>
            <a:r>
              <a:rPr sz="1400" b="1">
                <a:solidFill>
                  <a:srgbClr val="000000"/>
                </a:solidFill>
                <a:latin typeface="Aptos"/>
              </a:rPr>
              <a:t>Step 5:  Master of Service</a:t>
            </a:r>
            <a:r>
              <a:rPr sz="1400" b="0">
                <a:solidFill>
                  <a:srgbClr val="000000"/>
                </a:solidFill>
                <a:latin typeface="Aptos"/>
              </a:rPr>
              <a:t> ① tab is the catalogue of service types (e.g., 500 Hrs) with usage counts. Only the </a:t>
            </a:r>
            <a:r>
              <a:rPr sz="1400" b="1">
                <a:solidFill>
                  <a:srgbClr val="000000"/>
                </a:solidFill>
                <a:latin typeface="Aptos"/>
              </a:rPr>
              <a:t>name</a:t>
            </a:r>
            <a:r>
              <a:rPr sz="1400" b="0">
                <a:solidFill>
                  <a:srgbClr val="000000"/>
                </a:solidFill>
                <a:latin typeface="Aptos"/>
              </a:rPr>
              <a:t> can be changed using </a:t>
            </a:r>
            <a:r>
              <a:rPr sz="1400" b="1">
                <a:solidFill>
                  <a:srgbClr val="000000"/>
                </a:solidFill>
                <a:latin typeface="Aptos"/>
              </a:rPr>
              <a:t>Rename</a:t>
            </a:r>
            <a:r>
              <a:rPr sz="1400" b="0">
                <a:solidFill>
                  <a:srgbClr val="000000"/>
                </a:solidFill>
                <a:latin typeface="Aptos"/>
              </a:rPr>
              <a:t> on the service card ② - the interval hours are fixed because parts are linked to a service by hours. Renaming updates the name on every screen. New service types are created automatically when an import brings a new interval</a:t>
            </a:r>
          </a:p>
        </p:txBody>
      </p:sp>
      <p:pic>
        <p:nvPicPr>
          <p:cNvPr id="4" name="Picture 3" descr="adm_Screenshot 2026-08-06 182047.png"/>
          <p:cNvPicPr>
            <a:picLocks noChangeAspect="1"/>
          </p:cNvPicPr>
          <p:nvPr/>
        </p:nvPicPr>
        <p:blipFill>
          <a:blip r:embed="rId2"/>
          <a:stretch>
            <a:fillRect/>
          </a:stretch>
        </p:blipFill>
        <p:spPr>
          <a:xfrm>
            <a:off x="710185" y="1792224"/>
            <a:ext cx="10770041" cy="471830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71600" y="283464"/>
            <a:ext cx="9454896" cy="411480"/>
          </a:xfrm>
          <a:prstGeom prst="rect">
            <a:avLst/>
          </a:prstGeom>
          <a:solidFill>
            <a:srgbClr val="FFC000"/>
          </a:solidFill>
        </p:spPr>
        <p:txBody>
          <a:bodyPr wrap="square" tIns="27432" bIns="27432">
            <a:spAutoFit/>
          </a:bodyPr>
          <a:lstStyle/>
          <a:p>
            <a:pPr algn="ctr"/>
            <a:r>
              <a:rPr sz="2100" b="1">
                <a:solidFill>
                  <a:srgbClr val="000000"/>
                </a:solidFill>
                <a:latin typeface="Aptos"/>
              </a:rPr>
              <a:t>PDI Steps - Section 2: Master Report (Master Admin Only)</a:t>
            </a:r>
          </a:p>
        </p:txBody>
      </p:sp>
      <p:sp>
        <p:nvSpPr>
          <p:cNvPr id="3" name="TextBox 2"/>
          <p:cNvSpPr txBox="1"/>
          <p:nvPr/>
        </p:nvSpPr>
        <p:spPr>
          <a:xfrm>
            <a:off x="1014984" y="804672"/>
            <a:ext cx="10698480" cy="1188720"/>
          </a:xfrm>
          <a:prstGeom prst="rect">
            <a:avLst/>
          </a:prstGeom>
          <a:noFill/>
        </p:spPr>
        <p:txBody>
          <a:bodyPr wrap="square">
            <a:spAutoFit/>
          </a:bodyPr>
          <a:lstStyle/>
          <a:p>
            <a:r>
              <a:rPr sz="1400" b="1">
                <a:solidFill>
                  <a:srgbClr val="000000"/>
                </a:solidFill>
                <a:latin typeface="Aptos"/>
              </a:rPr>
              <a:t>Step 6:  Import Data</a:t>
            </a:r>
            <a:r>
              <a:rPr sz="1400" b="0">
                <a:solidFill>
                  <a:srgbClr val="000000"/>
                </a:solidFill>
                <a:latin typeface="Aptos"/>
              </a:rPr>
              <a:t> ① tab uploads the master Excel (.xlsx / .xlsm / .csv) - drop the file in the upload box ② or click to browse. </a:t>
            </a:r>
            <a:r>
              <a:rPr sz="1400" b="1">
                <a:solidFill>
                  <a:srgbClr val="000000"/>
                </a:solidFill>
                <a:latin typeface="Aptos"/>
              </a:rPr>
              <a:t>App Code is the only mandatory column</a:t>
            </a:r>
            <a:r>
              <a:rPr sz="1400" b="0">
                <a:solidFill>
                  <a:srgbClr val="000000"/>
                </a:solidFill>
                <a:latin typeface="Aptos"/>
              </a:rPr>
              <a:t>; other column names are matched loosely in any case / spacing. A preview shows which codes will be added and which will be replaced, with a final confirmation. </a:t>
            </a:r>
            <a:r>
              <a:rPr sz="1400" b="1">
                <a:solidFill>
                  <a:srgbClr val="000000"/>
                </a:solidFill>
                <a:latin typeface="Aptos"/>
              </a:rPr>
              <a:t>Re-uploads overwrite by App Code</a:t>
            </a:r>
            <a:r>
              <a:rPr sz="1400" b="0">
                <a:solidFill>
                  <a:srgbClr val="000000"/>
                </a:solidFill>
                <a:latin typeface="Aptos"/>
              </a:rPr>
              <a:t> - the existing code with its parts and kits is deleted and re-inserted from the file. The upload continues safely even if you move to another page</a:t>
            </a:r>
          </a:p>
        </p:txBody>
      </p:sp>
      <p:pic>
        <p:nvPicPr>
          <p:cNvPr id="4" name="Picture 3" descr="adm_Screenshot 2026-08-06 182101.png"/>
          <p:cNvPicPr>
            <a:picLocks noChangeAspect="1"/>
          </p:cNvPicPr>
          <p:nvPr/>
        </p:nvPicPr>
        <p:blipFill>
          <a:blip r:embed="rId2"/>
          <a:stretch>
            <a:fillRect/>
          </a:stretch>
        </p:blipFill>
        <p:spPr>
          <a:xfrm>
            <a:off x="1031735" y="2066544"/>
            <a:ext cx="10126941" cy="444398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71600" y="283464"/>
            <a:ext cx="9454896" cy="365760"/>
          </a:xfrm>
          <a:prstGeom prst="rect">
            <a:avLst/>
          </a:prstGeom>
          <a:solidFill>
            <a:srgbClr val="FFC000"/>
          </a:solidFill>
        </p:spPr>
        <p:txBody>
          <a:bodyPr wrap="square" tIns="27432" bIns="27432">
            <a:spAutoFit/>
          </a:bodyPr>
          <a:lstStyle/>
          <a:p>
            <a:pPr algn="ctr"/>
            <a:r>
              <a:rPr sz="1800" b="1">
                <a:solidFill>
                  <a:srgbClr val="000000"/>
                </a:solidFill>
                <a:latin typeface="Aptos"/>
              </a:rPr>
              <a:t>Quick Reference</a:t>
            </a:r>
          </a:p>
        </p:txBody>
      </p:sp>
      <p:graphicFrame>
        <p:nvGraphicFramePr>
          <p:cNvPr id="3" name="Table 2"/>
          <p:cNvGraphicFramePr>
            <a:graphicFrameLocks noGrp="1"/>
          </p:cNvGraphicFramePr>
          <p:nvPr/>
        </p:nvGraphicFramePr>
        <p:xfrm>
          <a:off x="914400" y="804672"/>
          <a:ext cx="10369296" cy="2487168"/>
        </p:xfrm>
        <a:graphic>
          <a:graphicData uri="http://schemas.openxmlformats.org/drawingml/2006/table">
            <a:tbl>
              <a:tblPr firstRow="1" bandRow="1">
                <a:tableStyleId>{5C22544A-7EE6-4342-B048-85BDC9FD1C3A}</a:tableStyleId>
              </a:tblPr>
              <a:tblGrid>
                <a:gridCol w="3566160"/>
                <a:gridCol w="6803136"/>
              </a:tblGrid>
              <a:tr h="310896">
                <a:tc>
                  <a:txBody>
                    <a:bodyPr/>
                    <a:lstStyle/>
                    <a:p>
                      <a:r>
                        <a:rPr sz="1150" b="1">
                          <a:latin typeface="Aptos"/>
                        </a:rPr>
                        <a:t>Situation</a:t>
                      </a:r>
                    </a:p>
                  </a:txBody>
                  <a:tcPr marT="18288" marB="18288"/>
                </a:tc>
                <a:tc>
                  <a:txBody>
                    <a:bodyPr/>
                    <a:lstStyle/>
                    <a:p>
                      <a:r>
                        <a:rPr sz="1150" b="1">
                          <a:latin typeface="Aptos"/>
                        </a:rPr>
                        <a:t>What to do</a:t>
                      </a:r>
                    </a:p>
                  </a:txBody>
                  <a:tcPr marT="18288" marB="18288"/>
                </a:tc>
              </a:tr>
              <a:tr h="310896">
                <a:tc>
                  <a:txBody>
                    <a:bodyPr/>
                    <a:lstStyle/>
                    <a:p>
                      <a:r>
                        <a:rPr sz="1150" b="1">
                          <a:latin typeface="Aptos"/>
                        </a:rPr>
                        <a:t>Need the part list / quotation of a code</a:t>
                      </a:r>
                    </a:p>
                  </a:txBody>
                  <a:tcPr marT="18288" marB="18288"/>
                </a:tc>
                <a:tc>
                  <a:txBody>
                    <a:bodyPr/>
                    <a:lstStyle/>
                    <a:p>
                      <a:r>
                        <a:rPr sz="1150" b="0">
                          <a:latin typeface="Aptos"/>
                        </a:rPr>
                        <a:t>Quotation Template → select App Code → tick Type of Service → open the Part or Kit section</a:t>
                      </a:r>
                    </a:p>
                  </a:txBody>
                  <a:tcPr marT="18288" marB="18288"/>
                </a:tc>
              </a:tr>
              <a:tr h="310896">
                <a:tc>
                  <a:txBody>
                    <a:bodyPr/>
                    <a:lstStyle/>
                    <a:p>
                      <a:r>
                        <a:rPr sz="1150" b="1">
                          <a:latin typeface="Aptos"/>
                        </a:rPr>
                        <a:t>Need the quotation as PDF</a:t>
                      </a:r>
                    </a:p>
                  </a:txBody>
                  <a:tcPr marT="18288" marB="18288"/>
                </a:tc>
                <a:tc>
                  <a:txBody>
                    <a:bodyPr/>
                    <a:lstStyle/>
                    <a:p>
                      <a:r>
                        <a:rPr sz="1150" b="0">
                          <a:latin typeface="Aptos"/>
                        </a:rPr>
                        <a:t>Quotation Template → Export PDF → Print / Save as PDF</a:t>
                      </a:r>
                    </a:p>
                  </a:txBody>
                  <a:tcPr marT="18288" marB="18288"/>
                </a:tc>
              </a:tr>
              <a:tr h="310896">
                <a:tc>
                  <a:txBody>
                    <a:bodyPr/>
                    <a:lstStyle/>
                    <a:p>
                      <a:r>
                        <a:rPr sz="1150" b="1">
                          <a:latin typeface="Aptos"/>
                        </a:rPr>
                        <a:t>Which codes have parts for which service</a:t>
                      </a:r>
                    </a:p>
                  </a:txBody>
                  <a:tcPr marT="18288" marB="18288"/>
                </a:tc>
                <a:tc>
                  <a:txBody>
                    <a:bodyPr/>
                    <a:lstStyle/>
                    <a:p>
                      <a:r>
                        <a:rPr sz="1150" b="0">
                          <a:latin typeface="Aptos"/>
                        </a:rPr>
                        <a:t>Master Report → Service Applicability → search / filter → Export</a:t>
                      </a:r>
                    </a:p>
                  </a:txBody>
                  <a:tcPr marT="18288" marB="18288"/>
                </a:tc>
              </a:tr>
              <a:tr h="310896">
                <a:tc>
                  <a:txBody>
                    <a:bodyPr/>
                    <a:lstStyle/>
                    <a:p>
                      <a:r>
                        <a:rPr sz="1150" b="1">
                          <a:latin typeface="Aptos"/>
                        </a:rPr>
                        <a:t>Who searched which code and how often</a:t>
                      </a:r>
                    </a:p>
                  </a:txBody>
                  <a:tcPr marT="18288" marB="18288"/>
                </a:tc>
                <a:tc>
                  <a:txBody>
                    <a:bodyPr/>
                    <a:lstStyle/>
                    <a:p>
                      <a:r>
                        <a:rPr sz="1150" b="0">
                          <a:latin typeface="Aptos"/>
                        </a:rPr>
                        <a:t>Master Report → Search Activity Count → filter by date / employee → Export</a:t>
                      </a:r>
                    </a:p>
                  </a:txBody>
                  <a:tcPr marT="18288" marB="18288"/>
                </a:tc>
              </a:tr>
              <a:tr h="310896">
                <a:tc>
                  <a:txBody>
                    <a:bodyPr/>
                    <a:lstStyle/>
                    <a:p>
                      <a:r>
                        <a:rPr sz="1150" b="1">
                          <a:latin typeface="Aptos"/>
                        </a:rPr>
                        <a:t>Add or correct a code manually</a:t>
                      </a:r>
                    </a:p>
                  </a:txBody>
                  <a:tcPr marT="18288" marB="18288"/>
                </a:tc>
                <a:tc>
                  <a:txBody>
                    <a:bodyPr/>
                    <a:lstStyle/>
                    <a:p>
                      <a:r>
                        <a:rPr sz="1150" b="0">
                          <a:latin typeface="Aptos"/>
                        </a:rPr>
                        <a:t>Master Report → Master Data → Add Application Code / Edit / Delete</a:t>
                      </a:r>
                    </a:p>
                  </a:txBody>
                  <a:tcPr marT="18288" marB="18288"/>
                </a:tc>
              </a:tr>
              <a:tr h="310896">
                <a:tc>
                  <a:txBody>
                    <a:bodyPr/>
                    <a:lstStyle/>
                    <a:p>
                      <a:r>
                        <a:rPr sz="1150" b="1">
                          <a:latin typeface="Aptos"/>
                        </a:rPr>
                        <a:t>Bring the master Excel into the system</a:t>
                      </a:r>
                    </a:p>
                  </a:txBody>
                  <a:tcPr marT="18288" marB="18288"/>
                </a:tc>
                <a:tc>
                  <a:txBody>
                    <a:bodyPr/>
                    <a:lstStyle/>
                    <a:p>
                      <a:r>
                        <a:rPr sz="1150" b="0">
                          <a:latin typeface="Aptos"/>
                        </a:rPr>
                        <a:t>Master Report → Import Data → drop the file → check the preview → Confirm</a:t>
                      </a:r>
                    </a:p>
                  </a:txBody>
                  <a:tcPr marT="18288" marB="18288"/>
                </a:tc>
              </a:tr>
              <a:tr h="310896">
                <a:tc>
                  <a:txBody>
                    <a:bodyPr/>
                    <a:lstStyle/>
                    <a:p>
                      <a:r>
                        <a:rPr sz="1150" b="1">
                          <a:latin typeface="Aptos"/>
                        </a:rPr>
                        <a:t>An asset's code is missing in the master</a:t>
                      </a:r>
                    </a:p>
                  </a:txBody>
                  <a:tcPr marT="18288" marB="18288"/>
                </a:tc>
                <a:tc>
                  <a:txBody>
                    <a:bodyPr/>
                    <a:lstStyle/>
                    <a:p>
                      <a:r>
                        <a:rPr sz="1150" b="0">
                          <a:latin typeface="Aptos"/>
                        </a:rPr>
                        <a:t>Master Report → App Mapping → Remaining → Add (details prefilled from asset data)</a:t>
                      </a:r>
                    </a:p>
                  </a:txBody>
                  <a:tcPr marT="18288" marB="18288"/>
                </a:tc>
              </a:tr>
            </a:tbl>
          </a:graphicData>
        </a:graphic>
      </p:graphicFrame>
      <p:sp>
        <p:nvSpPr>
          <p:cNvPr id="4" name="TextBox 3"/>
          <p:cNvSpPr txBox="1"/>
          <p:nvPr/>
        </p:nvSpPr>
        <p:spPr>
          <a:xfrm>
            <a:off x="1371600" y="3675887"/>
            <a:ext cx="9454896" cy="365760"/>
          </a:xfrm>
          <a:prstGeom prst="rect">
            <a:avLst/>
          </a:prstGeom>
          <a:solidFill>
            <a:srgbClr val="FFC000"/>
          </a:solidFill>
        </p:spPr>
        <p:txBody>
          <a:bodyPr wrap="square" tIns="27432" bIns="27432">
            <a:spAutoFit/>
          </a:bodyPr>
          <a:lstStyle/>
          <a:p>
            <a:pPr algn="ctr"/>
            <a:r>
              <a:rPr sz="1800" b="1">
                <a:solidFill>
                  <a:srgbClr val="000000"/>
                </a:solidFill>
                <a:latin typeface="Aptos"/>
              </a:rPr>
              <a:t>Do's and Don'ts</a:t>
            </a:r>
          </a:p>
        </p:txBody>
      </p:sp>
      <p:graphicFrame>
        <p:nvGraphicFramePr>
          <p:cNvPr id="5" name="Table 4"/>
          <p:cNvGraphicFramePr>
            <a:graphicFrameLocks noGrp="1"/>
          </p:cNvGraphicFramePr>
          <p:nvPr/>
        </p:nvGraphicFramePr>
        <p:xfrm>
          <a:off x="914400" y="4206240"/>
          <a:ext cx="10369296" cy="1536192"/>
        </p:xfrm>
        <a:graphic>
          <a:graphicData uri="http://schemas.openxmlformats.org/drawingml/2006/table">
            <a:tbl>
              <a:tblPr firstRow="1" bandRow="1">
                <a:tableStyleId>{5C22544A-7EE6-4342-B048-85BDC9FD1C3A}</a:tableStyleId>
              </a:tblPr>
              <a:tblGrid>
                <a:gridCol w="5184648"/>
                <a:gridCol w="5184648"/>
              </a:tblGrid>
              <a:tr h="384048">
                <a:tc>
                  <a:txBody>
                    <a:bodyPr/>
                    <a:lstStyle/>
                    <a:p>
                      <a:r>
                        <a:rPr sz="1150" b="1">
                          <a:latin typeface="Aptos"/>
                        </a:rPr>
                        <a:t>Do</a:t>
                      </a:r>
                    </a:p>
                  </a:txBody>
                  <a:tcPr marT="18288" marB="18288"/>
                </a:tc>
                <a:tc>
                  <a:txBody>
                    <a:bodyPr/>
                    <a:lstStyle/>
                    <a:p>
                      <a:r>
                        <a:rPr sz="1150" b="1">
                          <a:latin typeface="Aptos"/>
                        </a:rPr>
                        <a:t>Don't</a:t>
                      </a:r>
                    </a:p>
                  </a:txBody>
                  <a:tcPr marT="18288" marB="18288"/>
                </a:tc>
              </a:tr>
              <a:tr h="384048">
                <a:tc>
                  <a:txBody>
                    <a:bodyPr/>
                    <a:lstStyle/>
                    <a:p>
                      <a:r>
                        <a:rPr sz="1150" b="1">
                          <a:latin typeface="Aptos"/>
                        </a:rPr>
                        <a:t>Verify part details from the master file before Add / Edit</a:t>
                      </a:r>
                    </a:p>
                  </a:txBody>
                  <a:tcPr marT="18288" marB="18288"/>
                </a:tc>
                <a:tc>
                  <a:txBody>
                    <a:bodyPr/>
                    <a:lstStyle/>
                    <a:p>
                      <a:r>
                        <a:rPr sz="1150" b="0">
                          <a:latin typeface="Aptos"/>
                        </a:rPr>
                        <a:t>Do not enter wrong or guessed part information - it shows to all users</a:t>
                      </a:r>
                    </a:p>
                  </a:txBody>
                  <a:tcPr marT="18288" marB="18288"/>
                </a:tc>
              </a:tr>
              <a:tr h="384048">
                <a:tc>
                  <a:txBody>
                    <a:bodyPr/>
                    <a:lstStyle/>
                    <a:p>
                      <a:r>
                        <a:rPr sz="1150" b="1">
                          <a:latin typeface="Aptos"/>
                        </a:rPr>
                        <a:t>Check the import preview (Add / Replace counts) before confirming</a:t>
                      </a:r>
                    </a:p>
                  </a:txBody>
                  <a:tcPr marT="18288" marB="18288"/>
                </a:tc>
                <a:tc>
                  <a:txBody>
                    <a:bodyPr/>
                    <a:lstStyle/>
                    <a:p>
                      <a:r>
                        <a:rPr sz="1150" b="0">
                          <a:latin typeface="Aptos"/>
                        </a:rPr>
                        <a:t>Do not re-upload a file casually - existing codes are fully replaced</a:t>
                      </a:r>
                    </a:p>
                  </a:txBody>
                  <a:tcPr marT="18288" marB="18288"/>
                </a:tc>
              </a:tr>
              <a:tr h="384048">
                <a:tc>
                  <a:txBody>
                    <a:bodyPr/>
                    <a:lstStyle/>
                    <a:p>
                      <a:r>
                        <a:rPr sz="1150" b="1">
                          <a:latin typeface="Aptos"/>
                        </a:rPr>
                        <a:t>Select the correct Type of Service before exporting the PDF</a:t>
                      </a:r>
                    </a:p>
                  </a:txBody>
                  <a:tcPr marT="18288" marB="18288"/>
                </a:tc>
                <a:tc>
                  <a:txBody>
                    <a:bodyPr/>
                    <a:lstStyle/>
                    <a:p>
                      <a:r>
                        <a:rPr sz="1150" b="0">
                          <a:latin typeface="Aptos"/>
                        </a:rPr>
                        <a:t>Do not share the PDF outside - it is for internal use only</a:t>
                      </a:r>
                    </a:p>
                  </a:txBody>
                  <a:tcPr marT="18288" marB="18288"/>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15.jpeg"/>
          <p:cNvPicPr>
            <a:picLocks noChangeAspect="1"/>
          </p:cNvPicPr>
          <p:nvPr/>
        </p:nvPicPr>
        <p:blipFill>
          <a:blip r:embed="rId2"/>
          <a:stretch>
            <a:fillRect/>
          </a:stretch>
        </p:blipFill>
        <p:spPr>
          <a:xfrm>
            <a:off x="2395728" y="0"/>
            <a:ext cx="7406640" cy="49377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7117</TotalTime>
  <Words>1294</Words>
  <Application>Microsoft Office PowerPoint</Application>
  <PresentationFormat>Custom</PresentationFormat>
  <Paragraphs>70</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Vishal Chavan</cp:lastModifiedBy>
  <cp:revision>260</cp:revision>
  <cp:lastPrinted>2026-01-08T14:00:00Z</cp:lastPrinted>
  <dcterms:created xsi:type="dcterms:W3CDTF">2024-04-02T05:02:00Z</dcterms:created>
  <dcterms:modified xsi:type="dcterms:W3CDTF">2026-08-06T13:30:58Z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1033-12.1.0.25862</vt:lpwstr>
  </property>
  <property fmtid="{D5CDD505-2E9C-101B-9397-08002B2CF9AE}" pid="3" name="ICV">
    <vt:lpwstr>4D29F4B6A207400DAD0268B757686EC8_13</vt:lpwstr>
  </property>
</Properties>
</file>