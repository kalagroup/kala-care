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0413" cy="68580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3839" userDrawn="1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3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8428" autoAdjust="0"/>
  </p:normalViewPr>
  <p:slideViewPr>
    <p:cSldViewPr snapToGrid="0" showGuides="1">
      <p:cViewPr varScale="1">
        <p:scale>
          <a:sx n="82" d="100"/>
          <a:sy n="82" d="100"/>
        </p:scale>
        <p:origin x="720" y="5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1" descr="D:\D Data\Conference 2023\Kala iii Logo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60382">
            <a:off x="11168288" y="112919"/>
            <a:ext cx="849541" cy="609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4" name="Google Shape;54;p30"/>
          <p:cNvSpPr>
            <a:spLocks noGrp="1"/>
          </p:cNvSpPr>
          <p:nvPr>
            <p:ph type="pic" idx="2"/>
          </p:nvPr>
        </p:nvSpPr>
        <p:spPr>
          <a:xfrm>
            <a:off x="2389406" y="612775"/>
            <a:ext cx="7314248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30"/>
          <p:cNvSpPr txBox="1">
            <a:spLocks noGrp="1"/>
          </p:cNvSpPr>
          <p:nvPr>
            <p:ph type="body" idx="1"/>
          </p:nvPr>
        </p:nvSpPr>
        <p:spPr>
          <a:xfrm>
            <a:off x="2389406" y="5367338"/>
            <a:ext cx="7314248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dt" idx="10"/>
          </p:nvPr>
        </p:nvSpPr>
        <p:spPr>
          <a:xfrm>
            <a:off x="609521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ftr" idx="11"/>
          </p:nvPr>
        </p:nvSpPr>
        <p:spPr>
          <a:xfrm>
            <a:off x="4165059" y="6356352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sldNum" idx="12"/>
          </p:nvPr>
        </p:nvSpPr>
        <p:spPr>
          <a:xfrm>
            <a:off x="8736463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>
            <a:spLocks noGrp="1"/>
          </p:cNvSpPr>
          <p:nvPr>
            <p:ph type="title"/>
          </p:nvPr>
        </p:nvSpPr>
        <p:spPr>
          <a:xfrm>
            <a:off x="609522" y="274638"/>
            <a:ext cx="1097137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1"/>
          </p:nvPr>
        </p:nvSpPr>
        <p:spPr>
          <a:xfrm rot="5400000">
            <a:off x="3832227" y="-1622503"/>
            <a:ext cx="4525963" cy="1097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609521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165059" y="6356352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736463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 rot="5400000">
            <a:off x="7283709" y="1828981"/>
            <a:ext cx="5851525" cy="274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body" idx="1"/>
          </p:nvPr>
        </p:nvSpPr>
        <p:spPr>
          <a:xfrm rot="5400000">
            <a:off x="1696435" y="-812275"/>
            <a:ext cx="5851525" cy="8025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dt" idx="10"/>
          </p:nvPr>
        </p:nvSpPr>
        <p:spPr>
          <a:xfrm>
            <a:off x="609521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ftr" idx="11"/>
          </p:nvPr>
        </p:nvSpPr>
        <p:spPr>
          <a:xfrm>
            <a:off x="4165059" y="6356352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sldNum" idx="12"/>
          </p:nvPr>
        </p:nvSpPr>
        <p:spPr>
          <a:xfrm>
            <a:off x="8736463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-16421" y="6557533"/>
            <a:ext cx="12208421" cy="301108"/>
          </a:xfrm>
          <a:prstGeom prst="rect">
            <a:avLst/>
          </a:prstGeom>
          <a:gradFill>
            <a:gsLst>
              <a:gs pos="0">
                <a:srgbClr val="FFFE04">
                  <a:alpha val="73333"/>
                </a:srgbClr>
              </a:gs>
              <a:gs pos="35000">
                <a:srgbClr val="FFFE04">
                  <a:alpha val="73333"/>
                </a:srgbClr>
              </a:gs>
              <a:gs pos="56000">
                <a:srgbClr val="17365D"/>
              </a:gs>
              <a:gs pos="77000">
                <a:srgbClr val="92D050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Calibri" panose="020F0502020204030204"/>
              <a:buNone/>
            </a:pPr>
            <a:r>
              <a:rPr lang="en-IN" sz="1500" b="1" i="0" u="none" strike="noStrike" cap="none">
                <a:solidFill>
                  <a:srgbClr val="0000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“Engineering a Sustainable Tomorrow, Innovating Beyond Borders."</a:t>
            </a:r>
            <a:endParaRPr sz="1500" b="1" i="0" u="none" strike="noStrike" cap="none">
              <a:solidFill>
                <a:srgbClr val="0000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7;p20"/>
          <p:cNvSpPr txBox="1"/>
          <p:nvPr/>
        </p:nvSpPr>
        <p:spPr>
          <a:xfrm>
            <a:off x="1685" y="575839"/>
            <a:ext cx="720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IN" sz="1200" b="1" i="0" u="none" strike="noStrike" cap="none">
                <a:solidFill>
                  <a:srgbClr val="0039A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KALA</a:t>
            </a:r>
            <a:endParaRPr sz="2800" b="1" i="0" u="none" strike="noStrike" cap="none">
              <a:solidFill>
                <a:srgbClr val="0039A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8" name="Google Shape;8;p20"/>
          <p:cNvPicPr preferRelativeResize="0"/>
          <p:nvPr/>
        </p:nvPicPr>
        <p:blipFill rotWithShape="1">
          <a:blip r:embed="rId6"/>
          <a:srcRect b="24057"/>
          <a:stretch>
            <a:fillRect/>
          </a:stretch>
        </p:blipFill>
        <p:spPr>
          <a:xfrm>
            <a:off x="118377" y="149475"/>
            <a:ext cx="458938" cy="4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0" descr="D:\D Data\Conference 2023\Kala iii Logo.jp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 rot="160382">
            <a:off x="11168288" y="149475"/>
            <a:ext cx="849541" cy="60959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0"/>
          <p:cNvSpPr/>
          <p:nvPr/>
        </p:nvSpPr>
        <p:spPr>
          <a:xfrm>
            <a:off x="10271670" y="6615458"/>
            <a:ext cx="20008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IN" sz="1000" b="0" i="0" u="none" strike="noStrike" cap="none">
                <a:solidFill>
                  <a:srgbClr val="0000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 Rights Reserved @ KALA Group 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Google Shape;11;p20"/>
          <p:cNvSpPr txBox="1"/>
          <p:nvPr/>
        </p:nvSpPr>
        <p:spPr>
          <a:xfrm>
            <a:off x="-25474" y="6543450"/>
            <a:ext cx="1219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1" i="0" u="none" strike="noStrike" cap="none">
              <a:solidFill>
                <a:srgbClr val="0000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484632"/>
            <a:ext cx="10442448" cy="786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500" b="1">
                <a:latin typeface="Aptos"/>
              </a:rPr>
              <a:t>KCGL ERP - Welcome 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40864" y="1700784"/>
            <a:ext cx="8942832" cy="3666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0">
                <a:latin typeface="Aptos"/>
              </a:rPr>
              <a:t>How to send the </a:t>
            </a:r>
            <a:r>
              <a:rPr sz="2000" b="1">
                <a:latin typeface="Aptos"/>
              </a:rPr>
              <a:t>Welcome Letter</a:t>
            </a:r>
            <a:r>
              <a:rPr sz="2000" b="0">
                <a:latin typeface="Aptos"/>
              </a:rPr>
              <a:t> to new customers from the ERP</a:t>
            </a:r>
          </a:p>
          <a:p>
            <a:r>
              <a:rPr sz="2000" b="0">
                <a:latin typeface="Aptos"/>
              </a:rPr>
              <a:t>Covers two sections:</a:t>
            </a:r>
          </a:p>
          <a:p>
            <a:r>
              <a:rPr sz="2000" b="0">
                <a:latin typeface="Aptos"/>
              </a:rPr>
              <a:t>	1. Preview &amp; send the letter from the </a:t>
            </a:r>
            <a:r>
              <a:rPr sz="2000" b="1">
                <a:latin typeface="Aptos"/>
              </a:rPr>
              <a:t>Welcome Letter</a:t>
            </a:r>
            <a:r>
              <a:rPr sz="2000" b="0">
                <a:latin typeface="Aptos"/>
              </a:rPr>
              <a:t> page,</a:t>
            </a:r>
          </a:p>
          <a:p>
            <a:r>
              <a:rPr sz="2000" b="0">
                <a:latin typeface="Aptos"/>
              </a:rPr>
              <a:t>	2. Track sent letters from the </a:t>
            </a:r>
            <a:r>
              <a:rPr sz="2000" b="1">
                <a:latin typeface="Aptos"/>
              </a:rPr>
              <a:t>Reports</a:t>
            </a:r>
            <a:r>
              <a:rPr sz="2000" b="0">
                <a:latin typeface="Aptos"/>
              </a:rPr>
              <a:t> tab.</a:t>
            </a:r>
          </a:p>
          <a:p>
            <a:r>
              <a:rPr sz="2000" b="0">
                <a:latin typeface="Aptos"/>
              </a:rPr>
              <a:t>Every step has a screenshot with red markers ①, ②, ③ showing exactly where to click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297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100" b="1">
                <a:latin typeface="Aptos"/>
              </a:rPr>
              <a:t>Welcome Letter Guidelines and Terminologies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86384" y="1051560"/>
          <a:ext cx="10616183" cy="1152144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2651760"/>
                <a:gridCol w="7964423"/>
              </a:tblGrid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Customer Engagement – Welcome Letter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Step-by-step process to preview and send the Welcome Letter to new customers by e-mail, and to track sent letters from the Reports tab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Intended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Service co-ordinators / Branch managers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6384" y="2788920"/>
          <a:ext cx="10616183" cy="2304288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2651760"/>
                <a:gridCol w="7964423"/>
              </a:tblGrid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Welcome 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Official welcome e-mail with the letter, sent to a new customer after commissioning of the genset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Instance ID [Asset #]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Unique asset / instance number of the customer's genset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Pending / 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Pending – Welcome Letter not yet sent to the customer; Sent – letter already e-mailed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Ref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Unique letter reference number generated for every letter (e.g., WL/HO/213883446)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Attachments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Files e-mailed along with the letter – attached automatically (default file + model-wise file of the engine model)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KVA / Engine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Rating and engine model of the customer's asset, shown at the top of the letter preview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100" b="1">
                <a:latin typeface="Aptos"/>
              </a:rPr>
              <a:t>Welcome Letter Steps - Section 1: Preview &amp; Send the Welcome 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704088"/>
            <a:ext cx="10698480" cy="9418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400" b="1">
                <a:latin typeface="Aptos"/>
              </a:rPr>
              <a:t>Step 1:	</a:t>
            </a:r>
            <a:r>
              <a:rPr sz="1400" b="0">
                <a:latin typeface="Aptos"/>
              </a:rPr>
              <a:t>Log in to the portal. Open the Welcome Letter page. In the left menu, expand Customer Engagement and click</a:t>
            </a:r>
          </a:p>
          <a:p>
            <a:r>
              <a:rPr sz="1400" b="0">
                <a:latin typeface="Aptos"/>
              </a:rPr>
              <a:t>	Welcome Letter ①. All customers whose Welcome Letter is pending are listed with their instance ID, account, mobile</a:t>
            </a:r>
          </a:p>
          <a:p>
            <a:r>
              <a:rPr sz="1400" b="0">
                <a:latin typeface="Aptos"/>
              </a:rPr>
              <a:t>	number, branch, installation site address, segment and engine details.</a:t>
            </a:r>
          </a:p>
        </p:txBody>
      </p:sp>
      <p:pic>
        <p:nvPicPr>
          <p:cNvPr id="4" name="Picture 3" descr="wl_s1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95" y="1783080"/>
            <a:ext cx="1073122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100" b="1">
                <a:latin typeface="Aptos"/>
              </a:rPr>
              <a:t>Welcome Letter Steps - Section 1: Preview &amp; Send the Welcome 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713232"/>
            <a:ext cx="10698480" cy="7223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400" b="1">
                <a:latin typeface="Aptos"/>
              </a:rPr>
              <a:t>Step 2:	</a:t>
            </a:r>
            <a:r>
              <a:rPr sz="1400" b="0">
                <a:latin typeface="Aptos"/>
              </a:rPr>
              <a:t>Find the customer. Use the Branch filter ① and the Status filter (Pending / Sent) ② to narrow the list, or search the</a:t>
            </a:r>
          </a:p>
          <a:p>
            <a:r>
              <a:rPr sz="1400" b="0">
                <a:latin typeface="Aptos"/>
              </a:rPr>
              <a:t>	customer by name, instance ID or SR number in the search box ③.</a:t>
            </a:r>
          </a:p>
        </p:txBody>
      </p:sp>
      <p:pic>
        <p:nvPicPr>
          <p:cNvPr id="4" name="Picture 3" descr="wl_s1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6" y="1572768"/>
            <a:ext cx="11210482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100" b="1">
                <a:latin typeface="Aptos"/>
              </a:rPr>
              <a:t>Welcome Letter Steps - Section 1: Preview &amp; Send the Welcome 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704088"/>
            <a:ext cx="1069848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400" b="1">
                <a:latin typeface="Aptos"/>
              </a:rPr>
              <a:t>Step 3:	</a:t>
            </a:r>
            <a:r>
              <a:rPr sz="1400" b="0">
                <a:latin typeface="Aptos"/>
              </a:rPr>
              <a:t>Open the letter. Click Preview &amp; Send on the customer's row ① – the Welcome Letter Preview window opens.</a:t>
            </a:r>
          </a:p>
        </p:txBody>
      </p:sp>
      <p:pic>
        <p:nvPicPr>
          <p:cNvPr id="4" name="Picture 3" descr="wl_s1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91" y="1472184"/>
            <a:ext cx="11293832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100" b="1">
                <a:latin typeface="Aptos"/>
              </a:rPr>
              <a:t>Welcome Letter Steps - Section 1: Preview &amp; Send the Welcome 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713232"/>
            <a:ext cx="10698480" cy="7223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400" b="1">
                <a:latin typeface="Aptos"/>
              </a:rPr>
              <a:t>Step 4:	</a:t>
            </a:r>
            <a:r>
              <a:rPr sz="1400" b="0">
                <a:latin typeface="Aptos"/>
              </a:rPr>
              <a:t>Check the letter. Verify the Ref No and the Date ①. The KVA and Engine Model of the asset are shown at the top ②.</a:t>
            </a:r>
          </a:p>
          <a:p>
            <a:r>
              <a:rPr sz="1400" b="0">
                <a:latin typeface="Aptos"/>
              </a:rPr>
              <a:t>	Scroll down to check the complete letter. Use Print to take a printout of the letter if required ③.</a:t>
            </a:r>
          </a:p>
        </p:txBody>
      </p:sp>
      <p:pic>
        <p:nvPicPr>
          <p:cNvPr id="4" name="Picture 3" descr="wl_s2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08" y="1572768"/>
            <a:ext cx="11191798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100" b="1">
                <a:latin typeface="Aptos"/>
              </a:rPr>
              <a:t>Welcome Letter Steps - Section 1: Preview &amp; Send the Welcome 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704088"/>
            <a:ext cx="10698480" cy="9418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400" b="1">
                <a:latin typeface="Aptos"/>
              </a:rPr>
              <a:t>Step 5:	</a:t>
            </a:r>
            <a:r>
              <a:rPr sz="1400" b="0">
                <a:latin typeface="Aptos"/>
              </a:rPr>
              <a:t>Check the attachments. The files listed under ATTACHMENTS are e-mailed along with the letter automatically ① –</a:t>
            </a:r>
          </a:p>
          <a:p>
            <a:r>
              <a:rPr sz="1400" b="0">
                <a:latin typeface="Aptos"/>
              </a:rPr>
              <a:t>	the default file plus the model-wise file of the customer's engine model. If no model-wise file exists for the engine</a:t>
            </a:r>
          </a:p>
          <a:p>
            <a:r>
              <a:rPr sz="1400" b="0">
                <a:latin typeface="Aptos"/>
              </a:rPr>
              <a:t>	model, a note is shown ②.</a:t>
            </a:r>
          </a:p>
        </p:txBody>
      </p:sp>
      <p:pic>
        <p:nvPicPr>
          <p:cNvPr id="4" name="Picture 3" descr="wl_s3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74" y="1783080"/>
            <a:ext cx="1060726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100" b="1">
                <a:latin typeface="Aptos"/>
              </a:rPr>
              <a:t>Welcome Letter Steps - Section 1: Preview &amp; Send the Welcome 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704088"/>
            <a:ext cx="10698480" cy="9418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400" b="1">
                <a:latin typeface="Aptos"/>
              </a:rPr>
              <a:t>Step 6:	</a:t>
            </a:r>
            <a:r>
              <a:rPr sz="1400" b="0">
                <a:latin typeface="Aptos"/>
              </a:rPr>
              <a:t>Enter the e-mail and send. Type the customer's e-mail in the To box and click Done ① – if no e-mail is on the</a:t>
            </a:r>
          </a:p>
          <a:p>
            <a:r>
              <a:rPr sz="1400" b="0">
                <a:latin typeface="Aptos"/>
              </a:rPr>
              <a:t>	customer record, this one is saved to it. Use + Add for more recipients and the Cc box for copies ②. Finally click</a:t>
            </a:r>
          </a:p>
          <a:p>
            <a:r>
              <a:rPr sz="1400" b="0">
                <a:latin typeface="Aptos"/>
              </a:rPr>
              <a:t>	Send Welcome Letter ③. After sending, the customer moves from Pending to Sent.</a:t>
            </a:r>
          </a:p>
        </p:txBody>
      </p:sp>
      <p:pic>
        <p:nvPicPr>
          <p:cNvPr id="4" name="Picture 3" descr="wl_s3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74" y="1783080"/>
            <a:ext cx="1060726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100" b="1">
                <a:latin typeface="Aptos"/>
              </a:rPr>
              <a:t>Welcome Letter Steps - Section 2: Reports - Track Sent Letters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713232"/>
            <a:ext cx="10698480" cy="7223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400" b="1">
                <a:latin typeface="Aptos"/>
              </a:rPr>
              <a:t>Step 1:	</a:t>
            </a:r>
            <a:r>
              <a:rPr sz="1400" b="0">
                <a:latin typeface="Aptos"/>
              </a:rPr>
              <a:t>Open the Reports tab ①. The summary cards show the totals – Letters Sent, Pending, Active Users and Branches</a:t>
            </a:r>
          </a:p>
          <a:p>
            <a:r>
              <a:rPr sz="1400" b="0">
                <a:latin typeface="Aptos"/>
              </a:rPr>
              <a:t>	Covered ②.</a:t>
            </a:r>
          </a:p>
        </p:txBody>
      </p:sp>
      <p:pic>
        <p:nvPicPr>
          <p:cNvPr id="4" name="Picture 3" descr="wl_s4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99" y="1572768"/>
            <a:ext cx="11154616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100" b="1">
                <a:latin typeface="Aptos"/>
              </a:rPr>
              <a:t>Welcome Letter Steps - Section 2: Reports - Track Sent Letters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713232"/>
            <a:ext cx="10698480" cy="7223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400" b="1">
                <a:latin typeface="Aptos"/>
              </a:rPr>
              <a:t>Step 2:	</a:t>
            </a:r>
            <a:r>
              <a:rPr sz="1400" b="0">
                <a:latin typeface="Aptos"/>
              </a:rPr>
              <a:t>Track sent letters. Filter the report by Branch and User ①. The Sent Letter Details table shows every sent letter –</a:t>
            </a:r>
          </a:p>
          <a:p>
            <a:r>
              <a:rPr sz="1400" b="0">
                <a:latin typeface="Aptos"/>
              </a:rPr>
              <a:t>	Ref No, sent date &amp; time, sent by, customer, instance ID, branch, KVA, attachments and the e-mail it was sent to ②.</a:t>
            </a:r>
          </a:p>
        </p:txBody>
      </p:sp>
      <p:pic>
        <p:nvPicPr>
          <p:cNvPr id="4" name="Picture 3" descr="wl_s4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99" y="1572768"/>
            <a:ext cx="11154616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56032"/>
            <a:ext cx="94548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latin typeface="Aptos"/>
              </a:rPr>
              <a:t>Quick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731520"/>
          <a:ext cx="9454896" cy="2304288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2926080"/>
                <a:gridCol w="6528816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Situation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What to do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Send a Welcome 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Welcome Letter page → find the customer → Preview &amp; Send → check the letter → enter the e-mail → Send Welcome Letter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Customer's e-mail not on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Type the e-mail in the To box and click Done – it is saved to the customer record automatically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More recipients / copies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+ Add for extra To e-mails; use the Cc box for copies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Printed copy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Preview &amp; Send → Print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Check whether a letter was 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Reports tab → summary cards and Sent Letter Details (filter by Branch / User)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13632"/>
            <a:ext cx="94548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latin typeface="Aptos"/>
              </a:rPr>
              <a:t>Do's and Don'ts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370832"/>
          <a:ext cx="9454896" cy="1463040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4727448"/>
                <a:gridCol w="472744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Don't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Check the letter preview (customer, engine model, address) before sending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Do not send the letter without checking the preview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Enter the customer's correct e-mail ID – it is saved on the customer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Do not enter wrong / personal e-mail IDs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Confirm from Reports that the letter appears in Sent Letter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ptos"/>
                        </a:rPr>
                        <a:t>Do not resend a letter already shown as Sent unless required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960120"/>
            <a:ext cx="740664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7116</TotalTime>
  <Words>1272</Words>
  <Application>Microsoft Office PowerPoint</Application>
  <PresentationFormat>Custom</PresentationFormat>
  <Paragraphs>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BDM KCGL</cp:lastModifiedBy>
  <cp:revision>259</cp:revision>
  <cp:lastPrinted>2026-01-08T14:00:00Z</cp:lastPrinted>
  <dcterms:created xsi:type="dcterms:W3CDTF">2024-04-02T05:02:00Z</dcterms:created>
  <dcterms:modified xsi:type="dcterms:W3CDTF">2026-07-20T04:56:55Z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4D29F4B6A207400DAD0268B757686EC8_13</vt:lpwstr>
  </property>
</Properties>
</file>