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9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</p:sldIdLst>
  <p:sldSz cx="12190413" cy="68580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39" userDrawn="1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3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428" autoAdjust="0"/>
  </p:normalViewPr>
  <p:slideViewPr>
    <p:cSldViewPr snapToGrid="0" showGuides="1">
      <p:cViewPr varScale="1">
        <p:scale>
          <a:sx n="82" d="100"/>
          <a:sy n="82" d="100"/>
        </p:scale>
        <p:origin x="720" y="5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4425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3A2A014-6BD9-CBFD-AC54-D082AB75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A64ABF8A-F484-A24A-3A3A-E1BD06472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DB2BBD17-19F7-31B8-1EA3-F1F55C836B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8341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37E777E-A2AB-BE8C-5C31-5D162DFF3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89A6D94-CAC4-F965-8704-176AB4AB4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CF13DA7E-BC37-4D24-DB85-3B484FB09A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8484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4108A15-AA3F-E09F-2A27-26480EDB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5ACE172D-C3B7-CFBA-E814-42290751C2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B99D3B08-1753-390C-6E0E-4E4E01FBF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7348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A0C1E72-4D55-5033-D56C-B85DCE41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9DD06755-47B9-B213-82C7-F7FBAEF1DA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F619FBA4-47B3-A20A-EB74-C1BD8E2A8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75637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641F00B-DD69-DA6F-ADCD-6500D587C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45F6F1F7-AF5D-B506-E598-BA79E6BF5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F685B8D0-DEF5-DC08-C772-277A1B12BE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3952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49F2BA0-5B1F-4FD7-AA83-41F795D9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2E437693-0E66-7790-6265-12D767515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A73D062B-E43E-A5DE-04D6-EBE9F9FAF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69792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4879E14-2817-73A4-F02C-968E077A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1FE5A50E-1A27-B98E-3979-F8B0E452D4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E192C5AC-3E76-0A82-8CE1-10885DB8F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144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24ED76D-9187-BB44-0438-5D77F7C64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644D9EA5-66E1-A990-FFE0-4F20D8707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0CD6D26A-C1BB-BC70-7905-9E47677184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61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CBDB994A-69F3-AE02-BE49-295CB366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6E66A190-9205-9E1E-FFAC-08CC23FC3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EEAE7388-84B3-3B03-A00F-B98E8A7C50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7248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0DC2472-8FCF-9BF9-4A2E-E64D279D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CA948B4A-917F-D2BA-BE21-3398C5430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6090CEB4-76C7-22A1-B668-30FEC26B04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22550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A7C6B53-D5ED-91E7-E422-B095101A6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6DAD7507-0808-1996-2AA5-DA0AFB975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D02E21CA-54B6-4FDD-B3DB-789335A8A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3154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8B39D6F-39FB-BF91-3715-4A602026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2C69AB9C-8E2F-E939-790A-B1772367E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8CD11644-408D-DD2A-689F-5DE219686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0593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F7E9E56C-3BCD-C545-47F1-AA41C2EF2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100C82F9-013F-924F-F160-6A7ECF3E2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C5655BF9-5F97-5058-02ED-71C32A79AE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82090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A16F6B8-016C-F4EC-5D04-48A83BBF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5B16A189-D096-CADF-258F-A8333E5AA9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F099C3A4-E447-748A-CCED-8652A646F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8463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0B77534-C935-5D7D-FA08-7FAB63F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791F9426-7204-62D3-B775-FB81FC6BE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3ECD21B2-15A2-E31C-1AF8-CC6976F7D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893127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6CAADC44-D021-94B0-8C4E-C69B81E1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>
            <a:extLst>
              <a:ext uri="{FF2B5EF4-FFF2-40B4-BE49-F238E27FC236}">
                <a16:creationId xmlns:a16="http://schemas.microsoft.com/office/drawing/2014/main" id="{E109CDC1-8098-E2D2-6E1B-93C3B40141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73" name="Google Shape;73;p1:notes">
            <a:extLst>
              <a:ext uri="{FF2B5EF4-FFF2-40B4-BE49-F238E27FC236}">
                <a16:creationId xmlns:a16="http://schemas.microsoft.com/office/drawing/2014/main" id="{BB61466A-091A-5894-E512-FED8340D09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752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1" descr="D:\D Data\Conference 2023\Kala iii Logo.jp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160382">
            <a:off x="11168288" y="112919"/>
            <a:ext cx="849541" cy="609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4" name="Google Shape;54;p30"/>
          <p:cNvSpPr>
            <a:spLocks noGrp="1"/>
          </p:cNvSpPr>
          <p:nvPr>
            <p:ph type="pic" idx="2"/>
          </p:nvPr>
        </p:nvSpPr>
        <p:spPr>
          <a:xfrm>
            <a:off x="2389406" y="612775"/>
            <a:ext cx="7314248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0"/>
          <p:cNvSpPr txBox="1">
            <a:spLocks noGrp="1"/>
          </p:cNvSpPr>
          <p:nvPr>
            <p:ph type="body" idx="1"/>
          </p:nvPr>
        </p:nvSpPr>
        <p:spPr>
          <a:xfrm>
            <a:off x="2389406" y="5367338"/>
            <a:ext cx="7314248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>
            <a:spLocks noGrp="1"/>
          </p:cNvSpPr>
          <p:nvPr>
            <p:ph type="title"/>
          </p:nvPr>
        </p:nvSpPr>
        <p:spPr>
          <a:xfrm>
            <a:off x="609522" y="274638"/>
            <a:ext cx="1097137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1"/>
          </p:nvPr>
        </p:nvSpPr>
        <p:spPr>
          <a:xfrm rot="5400000">
            <a:off x="3832227" y="-1622503"/>
            <a:ext cx="4525963" cy="1097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 rot="5400000">
            <a:off x="7283709" y="1828981"/>
            <a:ext cx="5851525" cy="2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body" idx="1"/>
          </p:nvPr>
        </p:nvSpPr>
        <p:spPr>
          <a:xfrm rot="5400000">
            <a:off x="1696435" y="-812275"/>
            <a:ext cx="5851525" cy="8025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dt" idx="10"/>
          </p:nvPr>
        </p:nvSpPr>
        <p:spPr>
          <a:xfrm>
            <a:off x="609521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ftr" idx="11"/>
          </p:nvPr>
        </p:nvSpPr>
        <p:spPr>
          <a:xfrm>
            <a:off x="4165059" y="6356352"/>
            <a:ext cx="386029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sldNum" idx="12"/>
          </p:nvPr>
        </p:nvSpPr>
        <p:spPr>
          <a:xfrm>
            <a:off x="8736463" y="6356352"/>
            <a:ext cx="284442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/>
          <p:nvPr/>
        </p:nvSpPr>
        <p:spPr>
          <a:xfrm>
            <a:off x="-16421" y="6557533"/>
            <a:ext cx="12208421" cy="301108"/>
          </a:xfrm>
          <a:prstGeom prst="rect">
            <a:avLst/>
          </a:prstGeom>
          <a:gradFill>
            <a:gsLst>
              <a:gs pos="0">
                <a:srgbClr val="FFFE04">
                  <a:alpha val="73333"/>
                </a:srgbClr>
              </a:gs>
              <a:gs pos="35000">
                <a:srgbClr val="FFFE04">
                  <a:alpha val="73333"/>
                </a:srgbClr>
              </a:gs>
              <a:gs pos="56000">
                <a:srgbClr val="17365D"/>
              </a:gs>
              <a:gs pos="77000">
                <a:srgbClr val="92D050"/>
              </a:gs>
              <a:gs pos="100000">
                <a:srgbClr val="92D05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00"/>
              <a:buFont typeface="Calibri" panose="020F0502020204030204"/>
              <a:buNone/>
            </a:pPr>
            <a:r>
              <a:rPr lang="en-IN" sz="1500" b="1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“Engineering a Sustainable Tomorrow, Innovating Beyond Borders."</a:t>
            </a: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;p20"/>
          <p:cNvSpPr txBox="1"/>
          <p:nvPr/>
        </p:nvSpPr>
        <p:spPr>
          <a:xfrm>
            <a:off x="1685" y="575839"/>
            <a:ext cx="7200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IN" sz="1200" b="1" i="0" u="none" strike="noStrike" cap="none">
                <a:solidFill>
                  <a:srgbClr val="0039A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KALA</a:t>
            </a:r>
            <a:endParaRPr sz="2800" b="1" i="0" u="none" strike="noStrike" cap="none">
              <a:solidFill>
                <a:srgbClr val="0039A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8" name="Google Shape;8;p20"/>
          <p:cNvPicPr preferRelativeResize="0"/>
          <p:nvPr/>
        </p:nvPicPr>
        <p:blipFill rotWithShape="1">
          <a:blip r:embed="rId6"/>
          <a:srcRect b="24057"/>
          <a:stretch>
            <a:fillRect/>
          </a:stretch>
        </p:blipFill>
        <p:spPr>
          <a:xfrm>
            <a:off x="118377" y="149475"/>
            <a:ext cx="458938" cy="4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0" descr="D:\D Data\Conference 2023\Kala iii Logo.jp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 rot="160382">
            <a:off x="11168288" y="149475"/>
            <a:ext cx="849541" cy="60959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0"/>
          <p:cNvSpPr/>
          <p:nvPr/>
        </p:nvSpPr>
        <p:spPr>
          <a:xfrm>
            <a:off x="10271670" y="6615458"/>
            <a:ext cx="20008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</a:pPr>
            <a:r>
              <a:rPr lang="en-IN" sz="1000" b="0" i="0" u="none" strike="noStrike" cap="none">
                <a:solidFill>
                  <a:srgbClr val="00009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 Rights Reserved @ KALA Group </a:t>
            </a:r>
            <a:endParaRPr sz="1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20"/>
          <p:cNvSpPr txBox="1"/>
          <p:nvPr/>
        </p:nvSpPr>
        <p:spPr>
          <a:xfrm>
            <a:off x="-25474" y="6543450"/>
            <a:ext cx="1219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1" i="0" u="none" strike="noStrike" cap="none">
              <a:solidFill>
                <a:srgbClr val="00009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8CA8DE40-2750-10F0-A261-22C43A185C52}"/>
              </a:ext>
            </a:extLst>
          </p:cNvPr>
          <p:cNvSpPr txBox="1"/>
          <p:nvPr/>
        </p:nvSpPr>
        <p:spPr>
          <a:xfrm>
            <a:off x="737119" y="485189"/>
            <a:ext cx="10445588" cy="7848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  <a:buNone/>
            </a:pPr>
            <a:r>
              <a:rPr lang="en-IN" sz="45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KCGL ERP - </a:t>
            </a:r>
            <a:r>
              <a:rPr lang="en-IN" sz="45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CSP Drive</a:t>
            </a:r>
            <a:endParaRPr lang="en-IN" sz="45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0C5E35-AA3D-CE7D-0646-F18038C4804D}"/>
              </a:ext>
            </a:extLst>
          </p:cNvPr>
          <p:cNvSpPr txBox="1"/>
          <p:nvPr/>
        </p:nvSpPr>
        <p:spPr>
          <a:xfrm>
            <a:off x="2341984" y="1701277"/>
            <a:ext cx="8938725" cy="366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How to take </a:t>
            </a:r>
            <a:r>
              <a:rPr lang="en-IN" sz="20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CSP (Customer Service Package)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follow-ups in the ERP</a:t>
            </a:r>
          </a:p>
          <a:p>
            <a:pPr marL="285750" indent="-285750">
              <a:lnSpc>
                <a:spcPct val="125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overs three situations: </a:t>
            </a:r>
            <a:endParaRPr lang="en-IN" sz="2000" dirty="0">
              <a:solidFill>
                <a:schemeClr val="tx1"/>
              </a:solidFill>
              <a:latin typeface="Aptos" panose="020B0004020202020204" pitchFamily="34" charset="0"/>
              <a:ea typeface="Calibri" panose="020F0502020204030204" pitchFamily="34" charset="0"/>
            </a:endParaRPr>
          </a:p>
          <a:p>
            <a:pPr lvl="5">
              <a:lnSpc>
                <a:spcPct val="125000"/>
              </a:lnSpc>
              <a:spcAft>
                <a:spcPts val="5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	1</a:t>
            </a:r>
            <a:r>
              <a:rPr lang="en-IN" sz="20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.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Customer available on the </a:t>
            </a:r>
            <a:r>
              <a:rPr lang="en-IN" sz="20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Drive Data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page,</a:t>
            </a:r>
          </a:p>
          <a:p>
            <a:pPr lvl="5">
              <a:lnSpc>
                <a:spcPct val="125000"/>
              </a:lnSpc>
              <a:spcAft>
                <a:spcPts val="500"/>
              </a:spcAft>
            </a:pPr>
            <a:r>
              <a:rPr lang="en-IN" sz="20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	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2</a:t>
            </a:r>
            <a:r>
              <a:rPr lang="en-IN" sz="2000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.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 Customer is not in any drive (</a:t>
            </a:r>
            <a:r>
              <a:rPr lang="en-IN" sz="20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Non-Drive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)</a:t>
            </a:r>
          </a:p>
          <a:p>
            <a:pPr lvl="5">
              <a:lnSpc>
                <a:spcPct val="125000"/>
              </a:lnSpc>
              <a:spcAft>
                <a:spcPts val="5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	3. CSP reports and manual CSP SR entry from the </a:t>
            </a:r>
            <a:r>
              <a:rPr lang="en-IN" sz="2000" b="1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Dashboard</a:t>
            </a: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. </a:t>
            </a:r>
          </a:p>
          <a:p>
            <a:pPr marL="342900" lvl="5" indent="-342900">
              <a:lnSpc>
                <a:spcPct val="125000"/>
              </a:lnSpc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Every step has a screenshot with red markers ①, ②, ③ showing exactly where to click</a:t>
            </a:r>
          </a:p>
          <a:p>
            <a:pPr>
              <a:spcAft>
                <a:spcPts val="500"/>
              </a:spcAft>
              <a:buNone/>
            </a:pPr>
            <a:r>
              <a:rPr lang="en-IN" sz="1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 </a:t>
            </a:r>
          </a:p>
          <a:p>
            <a:pPr>
              <a:spcAft>
                <a:spcPts val="1000"/>
              </a:spcAft>
              <a:buNone/>
            </a:pPr>
            <a:r>
              <a:rPr lang="en-IN" sz="1400" dirty="0"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DB6B501-F6F0-2D0E-02AE-2C9266616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3AE1911-8934-691B-21D5-7B30F8948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513188"/>
              </p:ext>
            </p:extLst>
          </p:nvPr>
        </p:nvGraphicFramePr>
        <p:xfrm>
          <a:off x="786088" y="3940612"/>
          <a:ext cx="10618236" cy="115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7455">
                  <a:extLst>
                    <a:ext uri="{9D8B030D-6E8A-4147-A177-3AD203B41FA5}">
                      <a16:colId xmlns:a16="http://schemas.microsoft.com/office/drawing/2014/main" val="4234505664"/>
                    </a:ext>
                  </a:extLst>
                </a:gridCol>
                <a:gridCol w="7550781">
                  <a:extLst>
                    <a:ext uri="{9D8B030D-6E8A-4147-A177-3AD203B41FA5}">
                      <a16:colId xmlns:a16="http://schemas.microsoft.com/office/drawing/2014/main" val="7708884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Module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Customer Engagement – CSP Drive Follow-ups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0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Purpose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Step-by-step process to take CSP follow-ups for Drive and Non-Drive customers, and to manage CSP records from the Dashboard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96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Intended Users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Tele-callers / Service co-ordinators / Branch managers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892573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D27634B-62DA-0018-EDD8-0AB80A52A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029868"/>
              </p:ext>
            </p:extLst>
          </p:nvPr>
        </p:nvGraphicFramePr>
        <p:xfrm>
          <a:off x="786088" y="1444188"/>
          <a:ext cx="10618236" cy="21031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58654">
                  <a:extLst>
                    <a:ext uri="{9D8B030D-6E8A-4147-A177-3AD203B41FA5}">
                      <a16:colId xmlns:a16="http://schemas.microsoft.com/office/drawing/2014/main" val="2952221277"/>
                    </a:ext>
                  </a:extLst>
                </a:gridCol>
                <a:gridCol w="7559582">
                  <a:extLst>
                    <a:ext uri="{9D8B030D-6E8A-4147-A177-3AD203B41FA5}">
                      <a16:colId xmlns:a16="http://schemas.microsoft.com/office/drawing/2014/main" val="34103775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CSP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Customer Support Programme campaign / drive (e.g., CSP-E2FG-2026, CSP-F1F)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304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SR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Service Request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488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CSP Info box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Section on the customer page showing CSP details – GOEM/OEM, SR Number, SR Open/Close Date, SR Subtype, SR Status, Segment and Due Date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53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Subtype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CSP check type (e.g., A / B / C / D Check) saved along with the follow-up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70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Drive Data page</a:t>
                      </a:r>
                      <a:endParaRPr lang="en-IN" sz="140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List of customers enrolled in drives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409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Non-Drive Data page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List of customers not enrolled in any drive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2731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8862A34-2054-2366-AFB8-AB5E9E761F2D}"/>
              </a:ext>
            </a:extLst>
          </p:cNvPr>
          <p:cNvSpPr txBox="1"/>
          <p:nvPr/>
        </p:nvSpPr>
        <p:spPr>
          <a:xfrm>
            <a:off x="1369251" y="279915"/>
            <a:ext cx="9451910" cy="430887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  <a:buNone/>
            </a:pPr>
            <a:r>
              <a:rPr lang="en-IN" sz="2100" b="1" u="sng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Guidelines and Terminologies</a:t>
            </a:r>
            <a:endParaRPr lang="en-IN" sz="2100" u="sng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93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4D71E7AA-DC5A-3A79-9C9E-FCC51E9E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3A05F1E-41B2-15AA-AE95-7CE037997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704" y="707382"/>
            <a:ext cx="10944810" cy="51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Step 1:	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Log in to the portal.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Open the Drive Data page.</a:t>
            </a:r>
            <a:r>
              <a:rPr lang="en-US" altLang="en-US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In the left menu, expand Customer Engagement and click Drive Data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Calibri" panose="020F0502020204030204" pitchFamily="34" charset="0"/>
              </a:rPr>
              <a:t>①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2EC09AB1-8BB9-A41D-7F9D-2A493F2B8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39" y="1475981"/>
            <a:ext cx="11155933" cy="4917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DA16B4-E2A5-B9BF-EF7E-89861091D33B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- </a:t>
            </a:r>
            <a:r>
              <a:rPr lang="en-US" altLang="en-US" sz="2100" b="1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Section 1: Follow-up on CSP from the Drive Data Page</a:t>
            </a:r>
            <a:endParaRPr lang="en-IN" sz="21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61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FB78A6C-8EBE-AF44-597E-4F7AC901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ACB9634-B329-687B-DAE1-D66C7A19F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06547"/>
            <a:ext cx="10702214" cy="94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2:	</a:t>
            </a:r>
            <a:r>
              <a:rPr lang="en-IN" dirty="0">
                <a:latin typeface="Aptos" panose="020B0004020202020204" pitchFamily="34" charset="0"/>
              </a:rPr>
              <a:t>Select the CSP drive and the customer. On the Drive Progress page, click the CSP drive name in the summary bar – for 	example CSP-E2FG-2026 ①. The customer list of that drive is displayed. Click the customer for whom the follow-up is to be 	taken ②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7A828-58F8-0A35-6BB2-0427709FF3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6868" y="1658871"/>
            <a:ext cx="11016675" cy="48325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6A458-2B07-945D-9F4C-EB6DF9E029A5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- </a:t>
            </a:r>
            <a:r>
              <a:rPr lang="en-US" altLang="en-US" sz="2100" b="1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Section 1: Follow-up on CSP from the Drive Data Page</a:t>
            </a:r>
            <a:endParaRPr lang="en-IN" sz="21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54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FB82FC61-153B-5FC4-F2FC-56912D88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291173A-D6E5-F21E-2A13-7D77A023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11640"/>
            <a:ext cx="10702214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3:	</a:t>
            </a:r>
            <a:r>
              <a:rPr lang="en-IN" dirty="0">
                <a:latin typeface="Aptos" panose="020B0004020202020204" pitchFamily="34" charset="0"/>
              </a:rPr>
              <a:t>The Customer Information page opens and shows the complete details of the customer – branch details, asset details and 	the registered contact / mobile number 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1EF47B-E83C-D97C-300E-C766037BA5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898" y="1558688"/>
            <a:ext cx="11278615" cy="49663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67064F-8745-5D18-1570-C381B1638A84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- </a:t>
            </a:r>
            <a:r>
              <a:rPr lang="en-US" altLang="en-US" sz="2100" b="1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Section 1: Follow-up on CSP from the Drive Data Page</a:t>
            </a:r>
            <a:endParaRPr lang="en-IN" sz="21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07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9DCC337-CC87-26B5-89F7-EDCB5DC8C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1365549-9AED-EFA6-95A2-E3AB91E1A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06551"/>
            <a:ext cx="10702214" cy="94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4:	</a:t>
            </a:r>
            <a:r>
              <a:rPr lang="en-IN" dirty="0">
                <a:latin typeface="Aptos" panose="020B0004020202020204" pitchFamily="34" charset="0"/>
              </a:rPr>
              <a:t>Check the CSP Info box. Scroll down to the CSP Info box ①. It shows all CSP related details of the customer: GOEM/OEM, 	SR Number, SR Open Date, SR Subtype, SR Status, Segment and Due Date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349B6-F551-E67D-1F5B-8B5E2E38FE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811" y="1647741"/>
            <a:ext cx="11092789" cy="4903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3547C9-BAF3-0227-D272-8469D70C4C42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- </a:t>
            </a:r>
            <a:r>
              <a:rPr lang="en-US" altLang="en-US" sz="2100" b="1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Section 1: Follow-up on CSP from the Drive Data Page</a:t>
            </a:r>
            <a:endParaRPr lang="en-IN" sz="21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629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C67E4C8-6664-9854-B2E6-12B814A5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A195401-B5E9-DC17-3623-71A9F029A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10791"/>
            <a:ext cx="10702214" cy="115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5:	</a:t>
            </a:r>
            <a:r>
              <a:rPr lang="en-IN" dirty="0">
                <a:latin typeface="Aptos" panose="020B0004020202020204" pitchFamily="34" charset="0"/>
              </a:rPr>
              <a:t>Take follow-up. In Create New Follow-ups, select the CSP drive under Enrolled Drives ① and take the follow-up exactly like 	any other drive. The Subtype (e.g., C Check) is saved automatically along with the follow-up ②. Fill the remaining details 	(Follow-up By, Next Follow-up Date, Activity, Status) and click Save ③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9B2D09-6D74-84B7-C0BF-433491D10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4200" y="1856796"/>
            <a:ext cx="10722011" cy="4721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6DCD1C-6DDA-81D3-27B6-482E76998272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- </a:t>
            </a:r>
            <a:r>
              <a:rPr lang="en-US" altLang="en-US" sz="2100" b="1" dirty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Section 1: Follow-up on CSP from the Drive Data Page</a:t>
            </a:r>
            <a:endParaRPr lang="en-IN" sz="2100" dirty="0">
              <a:solidFill>
                <a:schemeClr val="tx1"/>
              </a:solidFill>
              <a:effectLst/>
              <a:latin typeface="Aptos" panose="020B00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598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F7F3D01-28A5-E917-D3DB-09AAFC3EC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533B24B-BA3B-CBCA-DAFE-77B780EA7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11632"/>
            <a:ext cx="10702214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1:	</a:t>
            </a:r>
            <a:r>
              <a:rPr lang="en-IN" dirty="0">
                <a:latin typeface="Aptos" panose="020B0004020202020204" pitchFamily="34" charset="0"/>
              </a:rPr>
              <a:t>Use this process when the customer is not available on the Drive Data page. Open the Non-Drive Data page</a:t>
            </a:r>
          </a:p>
          <a:p>
            <a:r>
              <a:rPr lang="en-IN" dirty="0">
                <a:latin typeface="Aptos" panose="020B0004020202020204" pitchFamily="34" charset="0"/>
              </a:rPr>
              <a:t>	In the left menu, click Non-Drive Data 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3883BD-DAF2-D032-E178-D9C3CDFDE893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2 – CSP Follow-up for Non-Drive Customers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908E41-3966-F6B1-C56A-A6912F3C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798" y="1558213"/>
            <a:ext cx="11243451" cy="49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35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AEE8387-DE87-63F1-E0CF-949C38F0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79BAE93-C202-F9A2-0965-9D40F88BE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711631"/>
            <a:ext cx="10702214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2:	</a:t>
            </a:r>
            <a:r>
              <a:rPr lang="en-IN" dirty="0">
                <a:latin typeface="Aptos" panose="020B0004020202020204" pitchFamily="34" charset="0"/>
              </a:rPr>
              <a:t>Search the customer. In the Search box at the top-right, search the customer by Instance ID or Name ①. The matching 	record appears in the list – click it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A7EBD-6D7E-2DFD-E127-AD391576BBDC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2 – CSP Follow-up for Non-Drive Customers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7D9DB-7C0A-FF5D-613D-D0C0A1F83D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6417" y="1571202"/>
            <a:ext cx="11243449" cy="495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62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CC5EFF4-9D82-72DC-0969-745BF814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500A22B-6F0A-502F-EE16-6095F5C45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603910"/>
            <a:ext cx="10702214" cy="94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3:	</a:t>
            </a:r>
            <a:r>
              <a:rPr lang="en-IN" dirty="0">
                <a:latin typeface="Aptos" panose="020B0004020202020204" pitchFamily="34" charset="0"/>
              </a:rPr>
              <a:t>Open the customer (CSP Info box is not shown). The Customer Information page opens. </a:t>
            </a:r>
          </a:p>
          <a:p>
            <a:r>
              <a:rPr lang="en-IN" b="1" dirty="0">
                <a:latin typeface="Aptos" panose="020B0004020202020204" pitchFamily="34" charset="0"/>
              </a:rPr>
              <a:t>	</a:t>
            </a:r>
            <a:r>
              <a:rPr lang="en-IN" b="1" u="sng" dirty="0">
                <a:latin typeface="Aptos" panose="020B0004020202020204" pitchFamily="34" charset="0"/>
              </a:rPr>
              <a:t>Note that for Non-Drive customers the CSP Info box is NOT displayed.</a:t>
            </a:r>
            <a:endParaRPr lang="en-IN" u="sng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C4A78-D15A-7345-8600-24C1A8F65C75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2 – CSP Follow-up for Non-Drive Customers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3297E4-B575-E399-5C81-651D9499C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6966" y="1353055"/>
            <a:ext cx="11696480" cy="515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71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6520C8EF-47F4-404A-F441-EB10BE0ED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ADEB044-5DF5-3483-62CF-C34717EA5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603910"/>
            <a:ext cx="10702214" cy="94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4:</a:t>
            </a:r>
            <a:r>
              <a:rPr lang="en-IN" dirty="0">
                <a:latin typeface="Aptos" panose="020B0004020202020204" pitchFamily="34" charset="0"/>
              </a:rPr>
              <a:t>	Take follow-up in the same way as on the Drive Data page – select the CSP drive in Create New Follow-ups ①, fill the details 	and click Save ②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76A14C-2A77-104B-3FD1-37AA6532DA49}"/>
              </a:ext>
            </a:extLst>
          </p:cNvPr>
          <p:cNvSpPr txBox="1"/>
          <p:nvPr/>
        </p:nvSpPr>
        <p:spPr>
          <a:xfrm>
            <a:off x="1369251" y="279915"/>
            <a:ext cx="9451910" cy="415498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2 – CSP Follow-up for Non-Drive Customers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840F14-FD6F-FDAC-4BCE-C8113E462B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978" y="1619744"/>
            <a:ext cx="11048455" cy="48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2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5F712E9-6C13-A371-40B5-D1A045FC6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EF7AE67-A9DD-7C2C-38BA-4E3C3C1A0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99" y="1836315"/>
            <a:ext cx="10947158" cy="2264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1600" b="1" dirty="0">
                <a:latin typeface="Aptos" panose="020B0004020202020204" pitchFamily="34" charset="0"/>
              </a:rPr>
              <a:t>** IMPORTANT **</a:t>
            </a:r>
          </a:p>
          <a:p>
            <a:pPr algn="ctr"/>
            <a:endParaRPr lang="en-IN" sz="16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Aptos" panose="020B0004020202020204" pitchFamily="34" charset="0"/>
              </a:rPr>
              <a:t>New CSP customers are not part of Drive or Non-Drive date </a:t>
            </a:r>
          </a:p>
          <a:p>
            <a:endParaRPr lang="en-IN" sz="16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Aptos" panose="020B0004020202020204" pitchFamily="34" charset="0"/>
              </a:rPr>
              <a:t>Take new CSP details from Pulse and add them manually through Dashboard → Add New CSP SR (see Section 3, Step 11)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16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>
                <a:latin typeface="Aptos" panose="020B0004020202020204" pitchFamily="34" charset="0"/>
              </a:rPr>
              <a:t> After this step, the details will appear in the CSP Info box during follow-up.</a:t>
            </a:r>
          </a:p>
          <a:p>
            <a:endParaRPr lang="en-IN" sz="1600" dirty="0"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D8F94C-337B-9E61-A03E-33504DE64091}"/>
              </a:ext>
            </a:extLst>
          </p:cNvPr>
          <p:cNvSpPr txBox="1"/>
          <p:nvPr/>
        </p:nvSpPr>
        <p:spPr>
          <a:xfrm>
            <a:off x="1369251" y="279915"/>
            <a:ext cx="9451910" cy="90537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3 –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Dashboard: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Reports &amp; Manual CSP SR Entry</a:t>
            </a:r>
          </a:p>
        </p:txBody>
      </p:sp>
    </p:spTree>
    <p:extLst>
      <p:ext uri="{BB962C8B-B14F-4D97-AF65-F5344CB8AC3E}">
        <p14:creationId xmlns:p14="http://schemas.microsoft.com/office/powerpoint/2010/main" val="48426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4CE229A-0628-C8E6-0208-AA7C7C256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1F97D73-4F37-BBF4-BB9A-EFF3D64BC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1196813"/>
            <a:ext cx="10702214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1:</a:t>
            </a:r>
            <a:r>
              <a:rPr lang="en-IN" dirty="0">
                <a:latin typeface="Aptos" panose="020B0004020202020204" pitchFamily="34" charset="0"/>
              </a:rPr>
              <a:t>	CSP reports are on the Dashboard. Open the Dashboard. All CSP-related reports are shown in separate boxes ①. Add New 	CSP SR, Total CSP, Open CSP, CSP Quotation Required, CSP Quotation Sent and Letter for Warranty Lapse.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FA180-35F1-CC26-7453-FC6658917BB1}"/>
              </a:ext>
            </a:extLst>
          </p:cNvPr>
          <p:cNvSpPr txBox="1"/>
          <p:nvPr/>
        </p:nvSpPr>
        <p:spPr>
          <a:xfrm>
            <a:off x="1369251" y="279915"/>
            <a:ext cx="9451910" cy="90537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3 –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Dashboard: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Reports &amp; Manual CSP SR Entry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07C427-3AF1-173A-2CDE-EA6DD4D64D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4275" y="2025201"/>
            <a:ext cx="10187733" cy="446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89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372A212-EAAB-9D20-7763-C1C1DA4C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CA4CCBE-6C17-F5E9-1FBC-74F214F04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1195976"/>
            <a:ext cx="10702214" cy="1156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2:</a:t>
            </a:r>
            <a:r>
              <a:rPr lang="en-IN" dirty="0">
                <a:latin typeface="Aptos" panose="020B0004020202020204" pitchFamily="34" charset="0"/>
              </a:rPr>
              <a:t>	Add New CSP SR manually. Click the Add New CSP SR box to add a customer manually to the CSP drive, so that the details 	appear in the CSP Info box during follow-up. In the Add SR to CSP Drive window: select the CSP campaign / drive ①; fill all 	mandatory fields marked with * - Asset No. (Instance ID), SR Number, etc. ②; and click Add ③.</a:t>
            </a:r>
          </a:p>
          <a:p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32312C-362F-3571-6C75-44E6E094D5DF}"/>
              </a:ext>
            </a:extLst>
          </p:cNvPr>
          <p:cNvSpPr txBox="1"/>
          <p:nvPr/>
        </p:nvSpPr>
        <p:spPr>
          <a:xfrm>
            <a:off x="1369251" y="279915"/>
            <a:ext cx="9451910" cy="90537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3 –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Dashboard: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Reports &amp; Manual CSP SR Entry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0CE3EA-5958-E78F-F69D-8A1CF65676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7181" y="2150043"/>
            <a:ext cx="10056050" cy="4428042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71997D-97CA-2C1A-80E2-D09C95EB3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231183"/>
              </p:ext>
            </p:extLst>
          </p:nvPr>
        </p:nvGraphicFramePr>
        <p:xfrm>
          <a:off x="1139394" y="5685673"/>
          <a:ext cx="9898720" cy="817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898720">
                  <a:extLst>
                    <a:ext uri="{9D8B030D-6E8A-4147-A177-3AD203B41FA5}">
                      <a16:colId xmlns:a16="http://schemas.microsoft.com/office/drawing/2014/main" val="38519602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  <a:buNone/>
                      </a:pP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Aptos" panose="020B0004020202020204" pitchFamily="34" charset="0"/>
                        </a:rPr>
                        <a:t>WARNING – Do not enter wrong information</a:t>
                      </a:r>
                    </a:p>
                    <a:p>
                      <a:pPr algn="ctr"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Verify every value from Pulse before clicking Add. Wrong entries will show incorrect CSP details to all users during follow-ups in the KCGL ERP.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101600" marR="1016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24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460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15B8C601-E123-E061-175E-5034B1CEC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09549C7-9EB7-6621-1AF1-AAD521C0F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35" y="1187489"/>
            <a:ext cx="10702214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Step 3:</a:t>
            </a:r>
            <a:r>
              <a:rPr lang="en-IN" dirty="0">
                <a:latin typeface="Aptos" panose="020B0004020202020204" pitchFamily="34" charset="0"/>
              </a:rPr>
              <a:t>	Work from the Open CSP report. Click the Open CSP box on the Dashboard to see all open CSP records. Click any record / 	Instance ID ① – the customer opens directly and the follow-up can be taken immediately.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0A80A-AFC3-EBF8-5C34-D96F28D445BC}"/>
              </a:ext>
            </a:extLst>
          </p:cNvPr>
          <p:cNvSpPr txBox="1"/>
          <p:nvPr/>
        </p:nvSpPr>
        <p:spPr>
          <a:xfrm>
            <a:off x="1369251" y="279915"/>
            <a:ext cx="9451910" cy="90537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Follow Up Steps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</a:rPr>
              <a:t>Section 3 – </a:t>
            </a: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Dashboard: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21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CSP Reports &amp; Manual CSP SR Entry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A8EE49-C6C2-5E12-B33D-EC2014502C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0063" y="1913236"/>
            <a:ext cx="10450285" cy="460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307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07B3998-ED13-0EFD-C135-5B0C943F4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7F6F65-517F-881B-1960-F572731A3DE2}"/>
              </a:ext>
            </a:extLst>
          </p:cNvPr>
          <p:cNvSpPr txBox="1"/>
          <p:nvPr/>
        </p:nvSpPr>
        <p:spPr>
          <a:xfrm>
            <a:off x="1369251" y="279915"/>
            <a:ext cx="945191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>
              <a:spcBef>
                <a:spcPts val="1000"/>
              </a:spcBef>
              <a:spcAft>
                <a:spcPts val="300"/>
              </a:spcAft>
            </a:pPr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Upcoming Feature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FB55471-02FC-1DEE-F30E-DC8A96F1D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252" y="580993"/>
            <a:ext cx="9451910" cy="72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03136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Letter Send</a:t>
            </a:r>
            <a:r>
              <a:rPr lang="en-IN" dirty="0">
                <a:latin typeface="Aptos" panose="020B0004020202020204" pitchFamily="34" charset="0"/>
              </a:rPr>
              <a:t> functionality:	Letter for Warranty Lapse is under development and will be available soon. This guide 			will be updated once the feature is released.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7C4A6-FD13-A84D-EB6D-C4F0933BE707}"/>
              </a:ext>
            </a:extLst>
          </p:cNvPr>
          <p:cNvSpPr txBox="1"/>
          <p:nvPr/>
        </p:nvSpPr>
        <p:spPr>
          <a:xfrm>
            <a:off x="1369251" y="1477337"/>
            <a:ext cx="945191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Quick</a:t>
            </a:r>
            <a:r>
              <a:rPr lang="en-IN" sz="1800" b="1" dirty="0">
                <a:solidFill>
                  <a:schemeClr val="tx1"/>
                </a:solidFill>
              </a:rPr>
              <a:t> </a:t>
            </a:r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Reference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9DCF4A5-902C-5B80-C1F0-800591211A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213830"/>
              </p:ext>
            </p:extLst>
          </p:nvPr>
        </p:nvGraphicFramePr>
        <p:xfrm>
          <a:off x="1369251" y="2025789"/>
          <a:ext cx="9451910" cy="2214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7476">
                  <a:extLst>
                    <a:ext uri="{9D8B030D-6E8A-4147-A177-3AD203B41FA5}">
                      <a16:colId xmlns:a16="http://schemas.microsoft.com/office/drawing/2014/main" val="227724443"/>
                    </a:ext>
                  </a:extLst>
                </a:gridCol>
                <a:gridCol w="6454434">
                  <a:extLst>
                    <a:ext uri="{9D8B030D-6E8A-4147-A177-3AD203B41FA5}">
                      <a16:colId xmlns:a16="http://schemas.microsoft.com/office/drawing/2014/main" val="36126681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Situation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What to do</a:t>
                      </a:r>
                      <a:endParaRPr lang="en-IN" sz="140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4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Customer is in a CSP drive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Drive Data → Click CSP drive → Click customer → Check CSP Info box → Take follow-up (subtype saves automatically)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197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Customer is NOT in any drive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Non-Drive Data → search by Instance ID / Name → click customer → take follow-up (CSP Info box is not shown)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931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CSP details missing for a Non-Drive customer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Check Kirloskar ERP → Dashboard → Add New CSP SR → select campaign → fill * fields → Add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8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See / work on all open CSP records</a:t>
                      </a:r>
                      <a:endParaRPr lang="en-IN" sz="1400" b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Dashboard → Open CSP box → click a record → take follow-up directly</a:t>
                      </a:r>
                      <a:endParaRPr lang="en-IN" sz="1400" b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0754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B490251-F9CE-2051-3EA5-23C47EDB3EAD}"/>
              </a:ext>
            </a:extLst>
          </p:cNvPr>
          <p:cNvSpPr txBox="1"/>
          <p:nvPr/>
        </p:nvSpPr>
        <p:spPr>
          <a:xfrm>
            <a:off x="1369251" y="4494235"/>
            <a:ext cx="9451910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tx1"/>
                </a:solidFill>
                <a:latin typeface="Aptos" panose="020B0004020202020204" pitchFamily="34" charset="0"/>
                <a:ea typeface="Calibri" panose="020F0502020204030204" pitchFamily="34" charset="0"/>
              </a:rPr>
              <a:t>Do's and Don'ts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3819BC-A2A8-3D2B-6E79-C5C0B59A6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68353"/>
              </p:ext>
            </p:extLst>
          </p:nvPr>
        </p:nvGraphicFramePr>
        <p:xfrm>
          <a:off x="1369250" y="5058230"/>
          <a:ext cx="9451910" cy="1259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204006">
                  <a:extLst>
                    <a:ext uri="{9D8B030D-6E8A-4147-A177-3AD203B41FA5}">
                      <a16:colId xmlns:a16="http://schemas.microsoft.com/office/drawing/2014/main" val="1214372410"/>
                    </a:ext>
                  </a:extLst>
                </a:gridCol>
                <a:gridCol w="5247904">
                  <a:extLst>
                    <a:ext uri="{9D8B030D-6E8A-4147-A177-3AD203B41FA5}">
                      <a16:colId xmlns:a16="http://schemas.microsoft.com/office/drawing/2014/main" val="2136410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Do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Don't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23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Verify CSP details from Pulse before manual entry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Do not enter wrong or guessed information in Add New CSP SR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26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Fill all mandatory (*) fields while adding a CSP SR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Do not skip checking the CSP Info box before the call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334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Select the correct CSP campaign / drive for follow-up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I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Do not take a CSP follow-up without selecting the CSP drive</a:t>
                      </a:r>
                    </a:p>
                  </a:txBody>
                  <a:tcPr marL="76200" marR="76200" marT="50800" marB="5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172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882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357EC04-AA21-99E3-0FCC-D82FF1BC7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ank You Presentation Vector Art, Icons, and Graphics for Free Download">
            <a:extLst>
              <a:ext uri="{FF2B5EF4-FFF2-40B4-BE49-F238E27FC236}">
                <a16:creationId xmlns:a16="http://schemas.microsoft.com/office/drawing/2014/main" id="{455150CA-F944-B284-6505-C553F33FE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285" y="0"/>
            <a:ext cx="7403841" cy="493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9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7116</TotalTime>
  <Words>1272</Words>
  <Application>Microsoft Office PowerPoint</Application>
  <PresentationFormat>Custom</PresentationFormat>
  <Paragraphs>90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BDM KCGL</cp:lastModifiedBy>
  <cp:revision>259</cp:revision>
  <cp:lastPrinted>2026-01-08T14:00:00Z</cp:lastPrinted>
  <dcterms:created xsi:type="dcterms:W3CDTF">2024-04-02T05:02:00Z</dcterms:created>
  <dcterms:modified xsi:type="dcterms:W3CDTF">2026-07-20T04:56:55Z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4D29F4B6A207400DAD0268B757686EC8_13</vt:lpwstr>
  </property>
</Properties>
</file>