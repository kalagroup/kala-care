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6"/>
    <p:sldId id="269" r:id="rId5"/>
    <p:sldId id="270" r:id="rId4"/>
  </p:sldIdLst>
  <p:sldSz cx="12190413" cy="6858000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3839" userDrawn="1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37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8428" autoAdjust="0"/>
  </p:normalViewPr>
  <p:slideViewPr>
    <p:cSldViewPr snapToGrid="0" showGuides="1">
      <p:cViewPr varScale="1">
        <p:scale>
          <a:sx n="82" d="100"/>
          <a:sy n="82" d="100"/>
        </p:scale>
        <p:origin x="720" y="53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15.xml"/><Relationship Id="rId5" Type="http://schemas.openxmlformats.org/officeDocument/2006/relationships/slide" Target="slides/slide14.xml"/><Relationship Id="rId6" Type="http://schemas.openxmlformats.org/officeDocument/2006/relationships/slide" Target="slides/slide1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4425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1" descr="D:\D Data\Conference 2023\Kala iii Logo.jp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160382">
            <a:off x="11168288" y="112919"/>
            <a:ext cx="849541" cy="609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0"/>
          <p:cNvSpPr txBox="1">
            <a:spLocks noGrp="1"/>
          </p:cNvSpPr>
          <p:nvPr>
            <p:ph type="title"/>
          </p:nvPr>
        </p:nvSpPr>
        <p:spPr>
          <a:xfrm>
            <a:off x="2389406" y="4800600"/>
            <a:ext cx="7314248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4" name="Google Shape;54;p30"/>
          <p:cNvSpPr>
            <a:spLocks noGrp="1"/>
          </p:cNvSpPr>
          <p:nvPr>
            <p:ph type="pic" idx="2"/>
          </p:nvPr>
        </p:nvSpPr>
        <p:spPr>
          <a:xfrm>
            <a:off x="2389406" y="612775"/>
            <a:ext cx="7314248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30"/>
          <p:cNvSpPr txBox="1">
            <a:spLocks noGrp="1"/>
          </p:cNvSpPr>
          <p:nvPr>
            <p:ph type="body" idx="1"/>
          </p:nvPr>
        </p:nvSpPr>
        <p:spPr>
          <a:xfrm>
            <a:off x="2389406" y="5367338"/>
            <a:ext cx="7314248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dt" idx="10"/>
          </p:nvPr>
        </p:nvSpPr>
        <p:spPr>
          <a:xfrm>
            <a:off x="609521" y="6356352"/>
            <a:ext cx="28444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ftr" idx="11"/>
          </p:nvPr>
        </p:nvSpPr>
        <p:spPr>
          <a:xfrm>
            <a:off x="4165059" y="6356352"/>
            <a:ext cx="386029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8" name="Google Shape;58;p30"/>
          <p:cNvSpPr txBox="1">
            <a:spLocks noGrp="1"/>
          </p:cNvSpPr>
          <p:nvPr>
            <p:ph type="sldNum" idx="12"/>
          </p:nvPr>
        </p:nvSpPr>
        <p:spPr>
          <a:xfrm>
            <a:off x="8736463" y="6356352"/>
            <a:ext cx="28444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1"/>
          <p:cNvSpPr txBox="1">
            <a:spLocks noGrp="1"/>
          </p:cNvSpPr>
          <p:nvPr>
            <p:ph type="title"/>
          </p:nvPr>
        </p:nvSpPr>
        <p:spPr>
          <a:xfrm>
            <a:off x="609522" y="274638"/>
            <a:ext cx="1097137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body" idx="1"/>
          </p:nvPr>
        </p:nvSpPr>
        <p:spPr>
          <a:xfrm rot="5400000">
            <a:off x="3832227" y="-1622503"/>
            <a:ext cx="4525963" cy="10971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dt" idx="10"/>
          </p:nvPr>
        </p:nvSpPr>
        <p:spPr>
          <a:xfrm>
            <a:off x="609521" y="6356352"/>
            <a:ext cx="28444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ftr" idx="11"/>
          </p:nvPr>
        </p:nvSpPr>
        <p:spPr>
          <a:xfrm>
            <a:off x="4165059" y="6356352"/>
            <a:ext cx="386029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8736463" y="6356352"/>
            <a:ext cx="28444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 rot="5400000">
            <a:off x="7283709" y="1828981"/>
            <a:ext cx="5851525" cy="2742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67" name="Google Shape;67;p32"/>
          <p:cNvSpPr txBox="1">
            <a:spLocks noGrp="1"/>
          </p:cNvSpPr>
          <p:nvPr>
            <p:ph type="body" idx="1"/>
          </p:nvPr>
        </p:nvSpPr>
        <p:spPr>
          <a:xfrm rot="5400000">
            <a:off x="1696435" y="-812275"/>
            <a:ext cx="5851525" cy="8025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68" name="Google Shape;68;p32"/>
          <p:cNvSpPr txBox="1">
            <a:spLocks noGrp="1"/>
          </p:cNvSpPr>
          <p:nvPr>
            <p:ph type="dt" idx="10"/>
          </p:nvPr>
        </p:nvSpPr>
        <p:spPr>
          <a:xfrm>
            <a:off x="609521" y="6356352"/>
            <a:ext cx="28444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ftr" idx="11"/>
          </p:nvPr>
        </p:nvSpPr>
        <p:spPr>
          <a:xfrm>
            <a:off x="4165059" y="6356352"/>
            <a:ext cx="386029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sldNum" idx="12"/>
          </p:nvPr>
        </p:nvSpPr>
        <p:spPr>
          <a:xfrm>
            <a:off x="8736463" y="6356352"/>
            <a:ext cx="28444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Relationship Id="rId7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/>
          <p:nvPr/>
        </p:nvSpPr>
        <p:spPr>
          <a:xfrm>
            <a:off x="-16421" y="6557533"/>
            <a:ext cx="12208421" cy="301108"/>
          </a:xfrm>
          <a:prstGeom prst="rect">
            <a:avLst/>
          </a:prstGeom>
          <a:gradFill>
            <a:gsLst>
              <a:gs pos="0">
                <a:srgbClr val="FFFE04">
                  <a:alpha val="73333"/>
                </a:srgbClr>
              </a:gs>
              <a:gs pos="35000">
                <a:srgbClr val="FFFE04">
                  <a:alpha val="73333"/>
                </a:srgbClr>
              </a:gs>
              <a:gs pos="56000">
                <a:srgbClr val="17365D"/>
              </a:gs>
              <a:gs pos="77000">
                <a:srgbClr val="92D050"/>
              </a:gs>
              <a:gs pos="100000">
                <a:srgbClr val="92D05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00"/>
              <a:buFont typeface="Calibri" panose="020F0502020204030204"/>
              <a:buNone/>
            </a:pPr>
            <a:r>
              <a:rPr lang="en-IN" sz="1500" b="1" i="0" u="none" strike="noStrike" cap="none">
                <a:solidFill>
                  <a:srgbClr val="00009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“Engineering a Sustainable Tomorrow, Innovating Beyond Borders."</a:t>
            </a:r>
            <a:endParaRPr sz="1500" b="1" i="0" u="none" strike="noStrike" cap="none">
              <a:solidFill>
                <a:srgbClr val="00009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7;p20"/>
          <p:cNvSpPr txBox="1"/>
          <p:nvPr/>
        </p:nvSpPr>
        <p:spPr>
          <a:xfrm>
            <a:off x="1685" y="575839"/>
            <a:ext cx="7200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IN" sz="1200" b="1" i="0" u="none" strike="noStrike" cap="none">
                <a:solidFill>
                  <a:srgbClr val="0039A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KALA</a:t>
            </a:r>
            <a:endParaRPr sz="2800" b="1" i="0" u="none" strike="noStrike" cap="none">
              <a:solidFill>
                <a:srgbClr val="0039A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8" name="Google Shape;8;p20"/>
          <p:cNvPicPr preferRelativeResize="0"/>
          <p:nvPr/>
        </p:nvPicPr>
        <p:blipFill rotWithShape="1">
          <a:blip r:embed="rId6"/>
          <a:srcRect b="24057"/>
          <a:stretch>
            <a:fillRect/>
          </a:stretch>
        </p:blipFill>
        <p:spPr>
          <a:xfrm>
            <a:off x="118377" y="149475"/>
            <a:ext cx="458938" cy="47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20" descr="D:\D Data\Conference 2023\Kala iii Logo.jp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 rot="160382">
            <a:off x="11168288" y="149475"/>
            <a:ext cx="849541" cy="60959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0"/>
          <p:cNvSpPr/>
          <p:nvPr/>
        </p:nvSpPr>
        <p:spPr>
          <a:xfrm>
            <a:off x="10271670" y="6615458"/>
            <a:ext cx="200086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r>
              <a:rPr lang="en-IN" sz="1000" b="0" i="0" u="none" strike="noStrike" cap="none">
                <a:solidFill>
                  <a:srgbClr val="00009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All Rights Reserved @ KALA Group 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" name="Google Shape;11;p20"/>
          <p:cNvSpPr txBox="1"/>
          <p:nvPr/>
        </p:nvSpPr>
        <p:spPr>
          <a:xfrm>
            <a:off x="-25474" y="6543450"/>
            <a:ext cx="1219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500" b="1" i="0" u="none" strike="noStrike" cap="none">
              <a:solidFill>
                <a:srgbClr val="00009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664" y="484632"/>
            <a:ext cx="10442448" cy="786384"/>
          </a:xfrm>
          <a:prstGeom prst="rect">
            <a:avLst/>
          </a:prstGeom>
          <a:solidFill>
            <a:srgbClr val="FFC000"/>
          </a:solidFill>
        </p:spPr>
        <p:txBody>
          <a:bodyPr wrap="square" tIns="27432" bIns="27432">
            <a:spAutoFit/>
          </a:bodyPr>
          <a:lstStyle/>
          <a:p>
            <a:pPr algn="ctr"/>
            <a:r>
              <a:rPr sz="4500" b="1">
                <a:solidFill>
                  <a:srgbClr val="000000"/>
                </a:solidFill>
                <a:latin typeface="Aptos"/>
              </a:rPr>
              <a:t>KCGL ERP - </a:t>
            </a:r>
            <a:r>
              <a:rPr sz="4500" b="1">
                <a:solidFill>
                  <a:srgbClr val="000000"/>
                </a:solidFill>
                <a:latin typeface="Aptos"/>
              </a:rPr>
              <a:t>Letter Send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40864" y="1700784"/>
            <a:ext cx="89428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Aptos"/>
              </a:rPr>
              <a:t>How employees send official letters to customers from the ERP</a:t>
            </a:r>
          </a:p>
          <a:p>
            <a:r>
              <a:rPr sz="2000" b="0">
                <a:solidFill>
                  <a:srgbClr val="000000"/>
                </a:solidFill>
                <a:latin typeface="Aptos"/>
              </a:rPr>
              <a:t>Covers three sections: </a:t>
            </a:r>
          </a:p>
          <a:p>
            <a:r>
              <a:rPr sz="2000" b="0">
                <a:solidFill>
                  <a:srgbClr val="000000"/>
                </a:solidFill>
                <a:latin typeface="Aptos"/>
              </a:rPr>
              <a:t>	1. </a:t>
            </a:r>
            <a:r>
              <a:rPr sz="2000" b="1">
                <a:solidFill>
                  <a:srgbClr val="000000"/>
                </a:solidFill>
                <a:latin typeface="Aptos"/>
              </a:rPr>
              <a:t>Send a Letter</a:t>
            </a:r>
            <a:r>
              <a:rPr sz="2000" b="0">
                <a:solidFill>
                  <a:srgbClr val="000000"/>
                </a:solidFill>
                <a:latin typeface="Aptos"/>
              </a:rPr>
              <a:t> - warranty lapse / CSP letters on the company letterhead, sent by email as PDF</a:t>
            </a:r>
          </a:p>
          <a:p>
            <a:r>
              <a:rPr sz="2000" b="0">
                <a:solidFill>
                  <a:srgbClr val="000000"/>
                </a:solidFill>
                <a:latin typeface="Aptos"/>
              </a:rPr>
              <a:t>	2. </a:t>
            </a:r>
            <a:r>
              <a:rPr sz="2000" b="1">
                <a:solidFill>
                  <a:srgbClr val="000000"/>
                </a:solidFill>
                <a:latin typeface="Aptos"/>
              </a:rPr>
              <a:t>Letter History</a:t>
            </a:r>
            <a:r>
              <a:rPr sz="2000" b="0">
                <a:solidFill>
                  <a:srgbClr val="000000"/>
                </a:solidFill>
                <a:latin typeface="Aptos"/>
              </a:rPr>
              <a:t> - every letter of a customer with its status</a:t>
            </a:r>
          </a:p>
          <a:p>
            <a:r>
              <a:rPr sz="2000" b="0">
                <a:solidFill>
                  <a:srgbClr val="000000"/>
                </a:solidFill>
                <a:latin typeface="Aptos"/>
              </a:rPr>
              <a:t>	3. </a:t>
            </a:r>
            <a:r>
              <a:rPr sz="2000" b="1">
                <a:solidFill>
                  <a:srgbClr val="000000"/>
                </a:solidFill>
                <a:latin typeface="Aptos"/>
              </a:rPr>
              <a:t>Dashboard Letter Report</a:t>
            </a:r>
            <a:r>
              <a:rPr sz="2000" b="0">
                <a:solidFill>
                  <a:srgbClr val="000000"/>
                </a:solidFill>
                <a:latin typeface="Aptos"/>
              </a:rPr>
              <a:t> - the letters sent by you, with view / download / print</a:t>
            </a:r>
          </a:p>
          <a:p>
            <a:r>
              <a:rPr sz="2000" b="0">
                <a:solidFill>
                  <a:srgbClr val="000000"/>
                </a:solidFill>
                <a:latin typeface="Aptos"/>
              </a:rPr>
              <a:t>Also explains the </a:t>
            </a:r>
            <a:r>
              <a:rPr sz="2000" b="1">
                <a:solidFill>
                  <a:srgbClr val="000000"/>
                </a:solidFill>
                <a:latin typeface="Aptos"/>
              </a:rPr>
              <a:t>Maintenance Chart (Service Cycle)</a:t>
            </a:r>
            <a:r>
              <a:rPr sz="2000" b="0">
                <a:solidFill>
                  <a:srgbClr val="000000"/>
                </a:solidFill>
                <a:latin typeface="Aptos"/>
              </a:rPr>
              <a:t> and </a:t>
            </a:r>
            <a:r>
              <a:rPr sz="2000" b="1">
                <a:solidFill>
                  <a:srgbClr val="000000"/>
                </a:solidFill>
                <a:latin typeface="Aptos"/>
              </a:rPr>
              <a:t>DG Set / Sticker details</a:t>
            </a:r>
            <a:r>
              <a:rPr sz="2000" b="0">
                <a:solidFill>
                  <a:srgbClr val="000000"/>
                </a:solidFill>
                <a:latin typeface="Aptos"/>
              </a:rPr>
              <a:t> in the letter</a:t>
            </a:r>
          </a:p>
          <a:p>
            <a:r>
              <a:rPr sz="2000" b="0">
                <a:solidFill>
                  <a:srgbClr val="000000"/>
                </a:solidFill>
                <a:latin typeface="Aptos"/>
              </a:rPr>
              <a:t>Every step has a screenshot with red markers ①, ②, ③ showing exactly where to click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83464"/>
            <a:ext cx="9454896" cy="411480"/>
          </a:xfrm>
          <a:prstGeom prst="rect">
            <a:avLst/>
          </a:prstGeom>
          <a:solidFill>
            <a:srgbClr val="FFC000"/>
          </a:solidFill>
        </p:spPr>
        <p:txBody>
          <a:bodyPr wrap="square" tIns="27432" bIns="27432">
            <a:spAutoFit/>
          </a:bodyPr>
          <a:lstStyle/>
          <a:p>
            <a:pPr algn="ctr"/>
            <a:r>
              <a:rPr sz="2100" b="1">
                <a:solidFill>
                  <a:srgbClr val="000000"/>
                </a:solidFill>
                <a:latin typeface="Aptos"/>
              </a:rPr>
              <a:t>Letter Send Guidelines and Terminologies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86384" y="960120"/>
          <a:ext cx="10616184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8513064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latin typeface="Aptos"/>
                        </a:rPr>
                        <a:t>Module</a:t>
                      </a:r>
                    </a:p>
                  </a:txBody>
                  <a:tcPr marT="18288" marB="18288"/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latin typeface="Aptos"/>
                        </a:rPr>
                        <a:t>Customer Engagement - Letter Send</a:t>
                      </a:r>
                    </a:p>
                  </a:txBody>
                  <a:tcPr marT="18288" marB="18288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latin typeface="Aptos"/>
                        </a:rPr>
                        <a:t>Purpose</a:t>
                      </a:r>
                    </a:p>
                  </a:txBody>
                  <a:tcPr marT="18288" marB="18288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Aptos"/>
                        </a:rPr>
                        <a:t>Send formal letter-headed PDF letters (warranty lapse / CSP follow-up) to customers by email, with the maintenance chart and DG set details, and keep the full history of every letter</a:t>
                      </a:r>
                    </a:p>
                  </a:txBody>
                  <a:tcPr marT="18288" marB="18288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latin typeface="Aptos"/>
                        </a:rPr>
                        <a:t>Intended Users</a:t>
                      </a:r>
                    </a:p>
                  </a:txBody>
                  <a:tcPr marT="18288" marB="18288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Aptos"/>
                        </a:rPr>
                        <a:t>Employees taking customer follow-ups</a:t>
                      </a:r>
                    </a:p>
                  </a:txBody>
                  <a:tcPr marT="18288" marB="18288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86384" y="2514600"/>
          <a:ext cx="10616184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8513064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latin typeface="Aptos"/>
                        </a:rPr>
                        <a:t>Format Type</a:t>
                      </a:r>
                    </a:p>
                  </a:txBody>
                  <a:tcPr marT="18288" marB="18288"/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latin typeface="Aptos"/>
                        </a:rPr>
                        <a:t>The letter type (e.g., Preventive Maintenance Schedule - Warranty Compliance Notice, CSP Follow Up). Each type has its own Ref No series and default attachments</a:t>
                      </a:r>
                    </a:p>
                  </a:txBody>
                  <a:tcPr marT="18288" marB="18288"/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latin typeface="Aptos"/>
                        </a:rPr>
                        <a:t>Ref No</a:t>
                      </a:r>
                    </a:p>
                  </a:txBody>
                  <a:tcPr marT="18288" marB="18288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Aptos"/>
                        </a:rPr>
                        <a:t>Auto-generated letter number (e.g., KCGL/26-27/CSP/Branch/Serial). It is reserved when the letter opens and stays the same for a draft</a:t>
                      </a:r>
                    </a:p>
                  </a:txBody>
                  <a:tcPr marT="18288" marB="18288"/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latin typeface="Aptos"/>
                        </a:rPr>
                        <a:t>Service Cycle</a:t>
                      </a:r>
                    </a:p>
                  </a:txBody>
                  <a:tcPr marT="18288" marB="18288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Aptos"/>
                        </a:rPr>
                        <a:t>The maintenance chart - KOEL Preventive Maintenance Guidelines table (Service Type, Schedule, Remarks) printed inside CSP letters</a:t>
                      </a:r>
                    </a:p>
                  </a:txBody>
                  <a:tcPr marT="18288" marB="18288"/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latin typeface="Aptos"/>
                        </a:rPr>
                        <a:t>References</a:t>
                      </a:r>
                    </a:p>
                  </a:txBody>
                  <a:tcPr marT="18288" marB="18288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Aptos"/>
                        </a:rPr>
                        <a:t>DG set details block in the letter - Instance ID, Application Code, Engine Model, KVA, Warranty Expiry etc.</a:t>
                      </a:r>
                    </a:p>
                  </a:txBody>
                  <a:tcPr marT="18288" marB="18288"/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latin typeface="Aptos"/>
                        </a:rPr>
                        <a:t>Status</a:t>
                      </a:r>
                    </a:p>
                  </a:txBody>
                  <a:tcPr marT="18288" marB="18288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Aptos"/>
                        </a:rPr>
                        <a:t>Draft (yellow) = saved, not sent · Sent (green) · Partial (orange) = sent with some issue · Failed (red)</a:t>
                      </a:r>
                    </a:p>
                  </a:txBody>
                  <a:tcPr marT="18288" marB="18288"/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latin typeface="Aptos"/>
                        </a:rPr>
                        <a:t>Letter Report</a:t>
                      </a:r>
                    </a:p>
                  </a:txBody>
                  <a:tcPr marT="18288" marB="18288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latin typeface="Aptos"/>
                        </a:rPr>
                        <a:t>Dashboard box showing the letters sent by you - with View / Download / Print</a:t>
                      </a:r>
                    </a:p>
                  </a:txBody>
                  <a:tcPr marT="18288" marB="18288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83464"/>
            <a:ext cx="9454896" cy="411480"/>
          </a:xfrm>
          <a:prstGeom prst="rect">
            <a:avLst/>
          </a:prstGeom>
          <a:solidFill>
            <a:srgbClr val="FFC000"/>
          </a:solidFill>
        </p:spPr>
        <p:txBody>
          <a:bodyPr wrap="square" tIns="27432" bIns="27432">
            <a:spAutoFit/>
          </a:bodyPr>
          <a:lstStyle/>
          <a:p>
            <a:pPr algn="ctr"/>
            <a:r>
              <a:rPr sz="2100" b="1">
                <a:solidFill>
                  <a:srgbClr val="000000"/>
                </a:solidFill>
                <a:latin typeface="Aptos"/>
              </a:rPr>
              <a:t>Letter Send Steps - </a:t>
            </a:r>
            <a:r>
              <a:rPr sz="2100" b="1">
                <a:solidFill>
                  <a:srgbClr val="000000"/>
                </a:solidFill>
                <a:latin typeface="Aptos"/>
              </a:rPr>
              <a:t>Section 1: Send a Letter to the Customer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" y="80467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ptos"/>
              </a:rPr>
              <a:t>Step 1:  </a:t>
            </a:r>
            <a:r>
              <a:rPr sz="1400" b="0">
                <a:solidFill>
                  <a:srgbClr val="000000"/>
                </a:solidFill>
                <a:latin typeface="Aptos"/>
              </a:rPr>
              <a:t>Open the customer. In the left menu, expand </a:t>
            </a:r>
            <a:r>
              <a:rPr sz="1400" b="1">
                <a:solidFill>
                  <a:srgbClr val="000000"/>
                </a:solidFill>
                <a:latin typeface="Aptos"/>
              </a:rPr>
              <a:t>Customer Engagement</a:t>
            </a:r>
            <a:r>
              <a:rPr sz="1400" b="0">
                <a:solidFill>
                  <a:srgbClr val="000000"/>
                </a:solidFill>
                <a:latin typeface="Aptos"/>
              </a:rPr>
              <a:t> and click </a:t>
            </a:r>
            <a:r>
              <a:rPr sz="1400" b="1">
                <a:solidFill>
                  <a:srgbClr val="000000"/>
                </a:solidFill>
                <a:latin typeface="Aptos"/>
              </a:rPr>
              <a:t>Drive Data</a:t>
            </a:r>
            <a:r>
              <a:rPr sz="1400" b="0">
                <a:solidFill>
                  <a:srgbClr val="000000"/>
                </a:solidFill>
                <a:latin typeface="Aptos"/>
              </a:rPr>
              <a:t> ① (or Non-Drive Data). Click the customer to whom the letter is to be sent ②</a:t>
            </a:r>
          </a:p>
        </p:txBody>
      </p:sp>
      <p:pic>
        <p:nvPicPr>
          <p:cNvPr id="4" name="Picture 3" descr="Screenshot 2026-08-06 1843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66" y="1563624"/>
            <a:ext cx="11155680" cy="48954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83464"/>
            <a:ext cx="9454896" cy="411480"/>
          </a:xfrm>
          <a:prstGeom prst="rect">
            <a:avLst/>
          </a:prstGeom>
          <a:solidFill>
            <a:srgbClr val="FFC000"/>
          </a:solidFill>
        </p:spPr>
        <p:txBody>
          <a:bodyPr wrap="square" tIns="27432" bIns="27432">
            <a:spAutoFit/>
          </a:bodyPr>
          <a:lstStyle/>
          <a:p>
            <a:pPr algn="ctr"/>
            <a:r>
              <a:rPr sz="2100" b="1">
                <a:solidFill>
                  <a:srgbClr val="000000"/>
                </a:solidFill>
                <a:latin typeface="Aptos"/>
              </a:rPr>
              <a:t>Letter Send Steps - </a:t>
            </a:r>
            <a:r>
              <a:rPr sz="2100" b="1">
                <a:solidFill>
                  <a:srgbClr val="000000"/>
                </a:solidFill>
                <a:latin typeface="Aptos"/>
              </a:rPr>
              <a:t>Section 1: Send a Letter to the Customer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" y="80467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ptos"/>
              </a:rPr>
              <a:t>Step 2:  </a:t>
            </a:r>
            <a:r>
              <a:rPr sz="1400" b="0">
                <a:solidFill>
                  <a:srgbClr val="000000"/>
                </a:solidFill>
                <a:latin typeface="Aptos"/>
              </a:rPr>
              <a:t>On the customer page, go to the </a:t>
            </a:r>
            <a:r>
              <a:rPr sz="1400" b="1">
                <a:solidFill>
                  <a:srgbClr val="000000"/>
                </a:solidFill>
                <a:latin typeface="Aptos"/>
              </a:rPr>
              <a:t>Create New Follow-ups</a:t>
            </a:r>
            <a:r>
              <a:rPr sz="1400" b="0">
                <a:solidFill>
                  <a:srgbClr val="000000"/>
                </a:solidFill>
                <a:latin typeface="Aptos"/>
              </a:rPr>
              <a:t> box and click the orange </a:t>
            </a:r>
            <a:r>
              <a:rPr sz="1400" b="1">
                <a:solidFill>
                  <a:srgbClr val="000000"/>
                </a:solidFill>
                <a:latin typeface="Aptos"/>
              </a:rPr>
              <a:t>Send Letter</a:t>
            </a:r>
            <a:r>
              <a:rPr sz="1400" b="0">
                <a:solidFill>
                  <a:srgbClr val="000000"/>
                </a:solidFill>
                <a:latin typeface="Aptos"/>
              </a:rPr>
              <a:t> button ①. The Send Letter wizard opens with 3 steps - Format Type → Letter → Review &amp; Send</a:t>
            </a:r>
          </a:p>
        </p:txBody>
      </p:sp>
      <p:pic>
        <p:nvPicPr>
          <p:cNvPr id="4" name="Picture 3" descr="Screenshot 2026-08-06 1843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66" y="1563624"/>
            <a:ext cx="11155680" cy="49117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83464"/>
            <a:ext cx="9454896" cy="411480"/>
          </a:xfrm>
          <a:prstGeom prst="rect">
            <a:avLst/>
          </a:prstGeom>
          <a:solidFill>
            <a:srgbClr val="FFC000"/>
          </a:solidFill>
        </p:spPr>
        <p:txBody>
          <a:bodyPr wrap="square" tIns="27432" bIns="27432">
            <a:spAutoFit/>
          </a:bodyPr>
          <a:lstStyle/>
          <a:p>
            <a:pPr algn="ctr"/>
            <a:r>
              <a:rPr sz="2100" b="1">
                <a:solidFill>
                  <a:srgbClr val="000000"/>
                </a:solidFill>
                <a:latin typeface="Aptos"/>
              </a:rPr>
              <a:t>Letter Send Steps - </a:t>
            </a:r>
            <a:r>
              <a:rPr sz="2100" b="1">
                <a:solidFill>
                  <a:srgbClr val="000000"/>
                </a:solidFill>
                <a:latin typeface="Aptos"/>
              </a:rPr>
              <a:t>Section 1: Send a Letter to the Customer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" y="804672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ptos"/>
              </a:rPr>
              <a:t>Step 3:  </a:t>
            </a:r>
            <a:r>
              <a:rPr sz="1400" b="0">
                <a:solidFill>
                  <a:srgbClr val="000000"/>
                </a:solidFill>
                <a:latin typeface="Aptos"/>
              </a:rPr>
              <a:t>Wizard Step 1 - select the </a:t>
            </a:r>
            <a:r>
              <a:rPr sz="1400" b="1">
                <a:solidFill>
                  <a:srgbClr val="000000"/>
                </a:solidFill>
                <a:latin typeface="Aptos"/>
              </a:rPr>
              <a:t>Format Type</a:t>
            </a:r>
            <a:r>
              <a:rPr sz="1400" b="0">
                <a:solidFill>
                  <a:srgbClr val="000000"/>
                </a:solidFill>
                <a:latin typeface="Aptos"/>
              </a:rPr>
              <a:t> from the dropdown ① - e.g., Mandatory CSP / Preventive Maintenance Schedule - Warranty Compliance Notice, or CSP Follow Up. The product, reference number series and default attachments of that format are set automatically. Click </a:t>
            </a:r>
            <a:r>
              <a:rPr sz="1400" b="1">
                <a:solidFill>
                  <a:srgbClr val="000000"/>
                </a:solidFill>
                <a:latin typeface="Aptos"/>
              </a:rPr>
              <a:t>Next</a:t>
            </a:r>
            <a:r>
              <a:rPr sz="1400" b="0">
                <a:solidFill>
                  <a:srgbClr val="000000"/>
                </a:solidFill>
                <a:latin typeface="Aptos"/>
              </a:rPr>
              <a:t> ②</a:t>
            </a:r>
          </a:p>
        </p:txBody>
      </p:sp>
      <p:pic>
        <p:nvPicPr>
          <p:cNvPr id="4" name="Picture 3" descr="Screenshot 2026-08-06 1844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837" y="1792224"/>
            <a:ext cx="10680737" cy="47183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83464"/>
            <a:ext cx="9454896" cy="411480"/>
          </a:xfrm>
          <a:prstGeom prst="rect">
            <a:avLst/>
          </a:prstGeom>
          <a:solidFill>
            <a:srgbClr val="FFC000"/>
          </a:solidFill>
        </p:spPr>
        <p:txBody>
          <a:bodyPr wrap="square" tIns="27432" bIns="27432">
            <a:spAutoFit/>
          </a:bodyPr>
          <a:lstStyle/>
          <a:p>
            <a:pPr algn="ctr"/>
            <a:r>
              <a:rPr sz="2100" b="1">
                <a:solidFill>
                  <a:srgbClr val="000000"/>
                </a:solidFill>
                <a:latin typeface="Aptos"/>
              </a:rPr>
              <a:t>Letter Send Steps - </a:t>
            </a:r>
            <a:r>
              <a:rPr sz="2100" b="1">
                <a:solidFill>
                  <a:srgbClr val="000000"/>
                </a:solidFill>
                <a:latin typeface="Aptos"/>
              </a:rPr>
              <a:t>Section 1: Send a Letter to the Customer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" y="804672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ptos"/>
              </a:rPr>
              <a:t>Step 4:  </a:t>
            </a:r>
            <a:r>
              <a:rPr sz="1400" b="0">
                <a:solidFill>
                  <a:srgbClr val="000000"/>
                </a:solidFill>
                <a:latin typeface="Aptos"/>
              </a:rPr>
              <a:t>Wizard Step 2 - the letter opens on the company letterhead. The </a:t>
            </a:r>
            <a:r>
              <a:rPr sz="1400" b="1">
                <a:solidFill>
                  <a:srgbClr val="000000"/>
                </a:solidFill>
                <a:latin typeface="Aptos"/>
              </a:rPr>
              <a:t>Ref No</a:t>
            </a:r>
            <a:r>
              <a:rPr sz="1400" b="0">
                <a:solidFill>
                  <a:srgbClr val="000000"/>
                </a:solidFill>
                <a:latin typeface="Aptos"/>
              </a:rPr>
              <a:t> ① is auto-generated and locked. Check the </a:t>
            </a:r>
            <a:r>
              <a:rPr sz="1400" b="1">
                <a:solidFill>
                  <a:srgbClr val="000000"/>
                </a:solidFill>
                <a:latin typeface="Aptos"/>
              </a:rPr>
              <a:t>Date</a:t>
            </a:r>
            <a:r>
              <a:rPr sz="1400" b="0">
                <a:solidFill>
                  <a:srgbClr val="000000"/>
                </a:solidFill>
                <a:latin typeface="Aptos"/>
              </a:rPr>
              <a:t> ②, the customer name and address (</a:t>
            </a:r>
            <a:r>
              <a:rPr sz="1400" b="1">
                <a:solidFill>
                  <a:srgbClr val="000000"/>
                </a:solidFill>
                <a:latin typeface="Aptos"/>
              </a:rPr>
              <a:t>To</a:t>
            </a:r>
            <a:r>
              <a:rPr sz="1400" b="0">
                <a:solidFill>
                  <a:srgbClr val="000000"/>
                </a:solidFill>
                <a:latin typeface="Aptos"/>
              </a:rPr>
              <a:t>) ③, and the </a:t>
            </a:r>
            <a:r>
              <a:rPr sz="1400" b="1">
                <a:solidFill>
                  <a:srgbClr val="000000"/>
                </a:solidFill>
                <a:latin typeface="Aptos"/>
              </a:rPr>
              <a:t>References</a:t>
            </a:r>
            <a:r>
              <a:rPr sz="1400" b="0">
                <a:solidFill>
                  <a:srgbClr val="000000"/>
                </a:solidFill>
                <a:latin typeface="Aptos"/>
              </a:rPr>
              <a:t> ④ - the DG set details like Instance ID, Application Code, Engine Model, KVA. For CSP letters the SR Subtype and SR Number are added automatically</a:t>
            </a:r>
          </a:p>
        </p:txBody>
      </p:sp>
      <p:pic>
        <p:nvPicPr>
          <p:cNvPr id="4" name="Picture 3" descr="Screenshot 2026-08-06 1844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467" y="1929384"/>
            <a:ext cx="10387477" cy="45811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83464"/>
            <a:ext cx="9454896" cy="411480"/>
          </a:xfrm>
          <a:prstGeom prst="rect">
            <a:avLst/>
          </a:prstGeom>
          <a:solidFill>
            <a:srgbClr val="FFC000"/>
          </a:solidFill>
        </p:spPr>
        <p:txBody>
          <a:bodyPr wrap="square" tIns="27432" bIns="27432">
            <a:spAutoFit/>
          </a:bodyPr>
          <a:lstStyle/>
          <a:p>
            <a:pPr algn="ctr"/>
            <a:r>
              <a:rPr sz="2100" b="1">
                <a:solidFill>
                  <a:srgbClr val="000000"/>
                </a:solidFill>
                <a:latin typeface="Aptos"/>
              </a:rPr>
              <a:t>Letter Send Steps - </a:t>
            </a:r>
            <a:r>
              <a:rPr sz="2100" b="1">
                <a:solidFill>
                  <a:srgbClr val="000000"/>
                </a:solidFill>
                <a:latin typeface="Aptos"/>
              </a:rPr>
              <a:t>Section 1: Send a Letter to the Customer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" y="804672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ptos"/>
              </a:rPr>
              <a:t>Step 5:  </a:t>
            </a:r>
            <a:r>
              <a:rPr sz="1400" b="0">
                <a:solidFill>
                  <a:srgbClr val="000000"/>
                </a:solidFill>
                <a:latin typeface="Aptos"/>
              </a:rPr>
              <a:t>Edit the </a:t>
            </a:r>
            <a:r>
              <a:rPr sz="1400" b="1">
                <a:solidFill>
                  <a:srgbClr val="000000"/>
                </a:solidFill>
                <a:latin typeface="Aptos"/>
              </a:rPr>
              <a:t>Start Paragraph</a:t>
            </a:r>
            <a:r>
              <a:rPr sz="1400" b="0">
                <a:solidFill>
                  <a:srgbClr val="000000"/>
                </a:solidFill>
                <a:latin typeface="Aptos"/>
              </a:rPr>
              <a:t> ① if required - the ready text already covers the DG set warranty / AMC expiry. Tick </a:t>
            </a:r>
            <a:r>
              <a:rPr sz="1400" b="1">
                <a:solidFill>
                  <a:srgbClr val="000000"/>
                </a:solidFill>
                <a:latin typeface="Aptos"/>
              </a:rPr>
              <a:t>Include Service Cycle</a:t>
            </a:r>
            <a:r>
              <a:rPr sz="1400" b="0">
                <a:solidFill>
                  <a:srgbClr val="000000"/>
                </a:solidFill>
                <a:latin typeface="Aptos"/>
              </a:rPr>
              <a:t> ② to print the maintenance chart (KOEL Preventive Maintenance Guidelines) in the letter - its rows can be edited. Use </a:t>
            </a:r>
            <a:r>
              <a:rPr sz="1400" b="1">
                <a:solidFill>
                  <a:srgbClr val="000000"/>
                </a:solidFill>
                <a:latin typeface="Aptos"/>
              </a:rPr>
              <a:t>Include Follow-up history / Include Quotation / Include Letter Ref</a:t>
            </a:r>
            <a:r>
              <a:rPr sz="1400" b="0">
                <a:solidFill>
                  <a:srgbClr val="000000"/>
                </a:solidFill>
                <a:latin typeface="Aptos"/>
              </a:rPr>
              <a:t> ③ to add those tables. The End Paragraph can also be edited</a:t>
            </a:r>
          </a:p>
        </p:txBody>
      </p:sp>
      <p:pic>
        <p:nvPicPr>
          <p:cNvPr id="4" name="Picture 3" descr="Screenshot 2026-08-06 1844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576" y="1929384"/>
            <a:ext cx="7231259" cy="45811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83464"/>
            <a:ext cx="9454896" cy="411480"/>
          </a:xfrm>
          <a:prstGeom prst="rect">
            <a:avLst/>
          </a:prstGeom>
          <a:solidFill>
            <a:srgbClr val="FFC000"/>
          </a:solidFill>
        </p:spPr>
        <p:txBody>
          <a:bodyPr wrap="square" tIns="27432" bIns="27432">
            <a:spAutoFit/>
          </a:bodyPr>
          <a:lstStyle/>
          <a:p>
            <a:pPr algn="ctr"/>
            <a:r>
              <a:rPr sz="2100" b="1">
                <a:solidFill>
                  <a:srgbClr val="000000"/>
                </a:solidFill>
                <a:latin typeface="Aptos"/>
              </a:rPr>
              <a:t>Letter Send Steps - </a:t>
            </a:r>
            <a:r>
              <a:rPr sz="2100" b="1">
                <a:solidFill>
                  <a:srgbClr val="000000"/>
                </a:solidFill>
                <a:latin typeface="Aptos"/>
              </a:rPr>
              <a:t>Section 1: Send a Letter to the Customer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" y="804672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ptos"/>
              </a:rPr>
              <a:t>Step 6:  </a:t>
            </a:r>
            <a:r>
              <a:rPr sz="1400" b="0">
                <a:solidFill>
                  <a:srgbClr val="000000"/>
                </a:solidFill>
                <a:latin typeface="Aptos"/>
              </a:rPr>
              <a:t>Scroll down to </a:t>
            </a:r>
            <a:r>
              <a:rPr sz="1400" b="1">
                <a:solidFill>
                  <a:srgbClr val="000000"/>
                </a:solidFill>
                <a:latin typeface="Aptos"/>
              </a:rPr>
              <a:t>Attachments</a:t>
            </a:r>
            <a:r>
              <a:rPr sz="1400" b="0">
                <a:solidFill>
                  <a:srgbClr val="000000"/>
                </a:solidFill>
                <a:latin typeface="Aptos"/>
              </a:rPr>
              <a:t>. Click </a:t>
            </a:r>
            <a:r>
              <a:rPr sz="1400" b="1">
                <a:solidFill>
                  <a:srgbClr val="000000"/>
                </a:solidFill>
                <a:latin typeface="Aptos"/>
              </a:rPr>
              <a:t>Add file</a:t>
            </a:r>
            <a:r>
              <a:rPr sz="1400" b="0">
                <a:solidFill>
                  <a:srgbClr val="000000"/>
                </a:solidFill>
                <a:latin typeface="Aptos"/>
              </a:rPr>
              <a:t> ① to attach the DG sticker image, quotation or any document (jpg / png / pdf / doc / xlsx). Attached files appear in the list ② and can be removed with ✕. Use </a:t>
            </a:r>
            <a:r>
              <a:rPr sz="1400" b="1">
                <a:solidFill>
                  <a:srgbClr val="000000"/>
                </a:solidFill>
                <a:latin typeface="Aptos"/>
              </a:rPr>
              <a:t>Print</a:t>
            </a:r>
            <a:r>
              <a:rPr sz="1400" b="0">
                <a:solidFill>
                  <a:srgbClr val="000000"/>
                </a:solidFill>
                <a:latin typeface="Aptos"/>
              </a:rPr>
              <a:t> ③ to print the letter directly. The default attachments of the chosen format are added automatically</a:t>
            </a:r>
          </a:p>
        </p:txBody>
      </p:sp>
      <p:pic>
        <p:nvPicPr>
          <p:cNvPr id="4" name="Picture 3" descr="Screenshot 2026-08-06 1845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324" y="1792224"/>
            <a:ext cx="7447763" cy="47183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83464"/>
            <a:ext cx="9454896" cy="411480"/>
          </a:xfrm>
          <a:prstGeom prst="rect">
            <a:avLst/>
          </a:prstGeom>
          <a:solidFill>
            <a:srgbClr val="FFC000"/>
          </a:solidFill>
        </p:spPr>
        <p:txBody>
          <a:bodyPr wrap="square" tIns="27432" bIns="27432">
            <a:spAutoFit/>
          </a:bodyPr>
          <a:lstStyle/>
          <a:p>
            <a:pPr algn="ctr"/>
            <a:r>
              <a:rPr sz="2100" b="1">
                <a:solidFill>
                  <a:srgbClr val="000000"/>
                </a:solidFill>
                <a:latin typeface="Aptos"/>
              </a:rPr>
              <a:t>Letter Send Steps - </a:t>
            </a:r>
            <a:r>
              <a:rPr sz="2100" b="1">
                <a:solidFill>
                  <a:srgbClr val="000000"/>
                </a:solidFill>
                <a:latin typeface="Aptos"/>
              </a:rPr>
              <a:t>Section 1: Send a Letter to the Customer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" y="804672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ptos"/>
              </a:rPr>
              <a:t>Step 7:  </a:t>
            </a:r>
            <a:r>
              <a:rPr sz="1400" b="0">
                <a:solidFill>
                  <a:srgbClr val="000000"/>
                </a:solidFill>
                <a:latin typeface="Aptos"/>
              </a:rPr>
              <a:t>Wizard Step 3 - Review &amp; Send: check the letter preview and the PDF </a:t>
            </a:r>
            <a:r>
              <a:rPr sz="1400" b="1">
                <a:solidFill>
                  <a:srgbClr val="000000"/>
                </a:solidFill>
                <a:latin typeface="Aptos"/>
              </a:rPr>
              <a:t>file name</a:t>
            </a:r>
            <a:r>
              <a:rPr sz="1400" b="0">
                <a:solidFill>
                  <a:srgbClr val="000000"/>
                </a:solidFill>
                <a:latin typeface="Aptos"/>
              </a:rPr>
              <a:t> ①. Send via </a:t>
            </a:r>
            <a:r>
              <a:rPr sz="1400" b="1">
                <a:solidFill>
                  <a:srgbClr val="000000"/>
                </a:solidFill>
                <a:latin typeface="Aptos"/>
              </a:rPr>
              <a:t>Email</a:t>
            </a:r>
            <a:r>
              <a:rPr sz="1400" b="0">
                <a:solidFill>
                  <a:srgbClr val="000000"/>
                </a:solidFill>
                <a:latin typeface="Aptos"/>
              </a:rPr>
              <a:t> ② (WhatsApp - coming soon). The customer's email is pre-filled in </a:t>
            </a:r>
            <a:r>
              <a:rPr sz="1400" b="1">
                <a:solidFill>
                  <a:srgbClr val="000000"/>
                </a:solidFill>
                <a:latin typeface="Aptos"/>
              </a:rPr>
              <a:t>Recipient Email</a:t>
            </a:r>
            <a:r>
              <a:rPr sz="1400" b="0">
                <a:solidFill>
                  <a:srgbClr val="000000"/>
                </a:solidFill>
                <a:latin typeface="Aptos"/>
              </a:rPr>
              <a:t> ③; more To / CC emails can be added ④ - the branch CC emails are added automatically. Click </a:t>
            </a:r>
            <a:r>
              <a:rPr sz="1400" b="1">
                <a:solidFill>
                  <a:srgbClr val="000000"/>
                </a:solidFill>
                <a:latin typeface="Aptos"/>
              </a:rPr>
              <a:t>Send Letter</a:t>
            </a:r>
            <a:r>
              <a:rPr sz="1400" b="0">
                <a:solidFill>
                  <a:srgbClr val="000000"/>
                </a:solidFill>
                <a:latin typeface="Aptos"/>
              </a:rPr>
              <a:t> ⑤ to send the letter as a PDF, or </a:t>
            </a:r>
            <a:r>
              <a:rPr sz="1400" b="1">
                <a:solidFill>
                  <a:srgbClr val="000000"/>
                </a:solidFill>
                <a:latin typeface="Aptos"/>
              </a:rPr>
              <a:t>Save as Draft</a:t>
            </a:r>
            <a:r>
              <a:rPr sz="1400" b="0">
                <a:solidFill>
                  <a:srgbClr val="000000"/>
                </a:solidFill>
                <a:latin typeface="Aptos"/>
              </a:rPr>
              <a:t> ⑥ to complete it later</a:t>
            </a:r>
          </a:p>
        </p:txBody>
      </p:sp>
      <p:pic>
        <p:nvPicPr>
          <p:cNvPr id="4" name="Picture 3" descr="Screenshot 2026-08-06 1845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222" y="1929384"/>
            <a:ext cx="7285968" cy="45811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83464"/>
            <a:ext cx="9454896" cy="411480"/>
          </a:xfrm>
          <a:prstGeom prst="rect">
            <a:avLst/>
          </a:prstGeom>
          <a:solidFill>
            <a:srgbClr val="FFC000"/>
          </a:solidFill>
        </p:spPr>
        <p:txBody>
          <a:bodyPr wrap="square" tIns="27432" bIns="27432">
            <a:spAutoFit/>
          </a:bodyPr>
          <a:lstStyle/>
          <a:p>
            <a:pPr algn="ctr"/>
            <a:r>
              <a:rPr sz="2100" b="1">
                <a:solidFill>
                  <a:srgbClr val="000000"/>
                </a:solidFill>
                <a:latin typeface="Aptos"/>
              </a:rPr>
              <a:t>Letter Send Steps - </a:t>
            </a:r>
            <a:r>
              <a:rPr sz="2100" b="1">
                <a:solidFill>
                  <a:srgbClr val="000000"/>
                </a:solidFill>
                <a:latin typeface="Aptos"/>
              </a:rPr>
              <a:t>Section 2: Letter History of the Customer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" y="804672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ptos"/>
              </a:rPr>
              <a:t>Step 1:  </a:t>
            </a:r>
            <a:r>
              <a:rPr sz="1400" b="0">
                <a:solidFill>
                  <a:srgbClr val="000000"/>
                </a:solidFill>
                <a:latin typeface="Aptos"/>
              </a:rPr>
              <a:t>Scroll to the bottom of the customer page - </a:t>
            </a:r>
            <a:r>
              <a:rPr sz="1400" b="1">
                <a:solidFill>
                  <a:srgbClr val="000000"/>
                </a:solidFill>
                <a:latin typeface="Aptos"/>
              </a:rPr>
              <a:t>Letter History</a:t>
            </a:r>
            <a:r>
              <a:rPr sz="1400" b="0">
                <a:solidFill>
                  <a:srgbClr val="000000"/>
                </a:solidFill>
                <a:latin typeface="Aptos"/>
              </a:rPr>
              <a:t> ① shows every letter of this customer: Ref No, Format Type, Channels, Date, Sent By and Status (Sent = green, Draft = yellow). Click a Draft's Ref No to reopen and complete it; click the eye icon to view a sent letter. A sent letter cannot be edited again</a:t>
            </a:r>
          </a:p>
        </p:txBody>
      </p:sp>
      <p:pic>
        <p:nvPicPr>
          <p:cNvPr id="4" name="Picture 3" descr="Screenshot 2026-08-06 1845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135" y="1792224"/>
            <a:ext cx="10734141" cy="47183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83464"/>
            <a:ext cx="9454896" cy="411480"/>
          </a:xfrm>
          <a:prstGeom prst="rect">
            <a:avLst/>
          </a:prstGeom>
          <a:solidFill>
            <a:srgbClr val="FFC000"/>
          </a:solidFill>
        </p:spPr>
        <p:txBody>
          <a:bodyPr wrap="square" tIns="27432" bIns="27432">
            <a:spAutoFit/>
          </a:bodyPr>
          <a:lstStyle/>
          <a:p>
            <a:pPr algn="ctr"/>
            <a:r>
              <a:rPr sz="2100" b="1">
                <a:solidFill>
                  <a:srgbClr val="000000"/>
                </a:solidFill>
                <a:latin typeface="Aptos"/>
              </a:rPr>
              <a:t>Letter Send Steps - </a:t>
            </a:r>
            <a:r>
              <a:rPr sz="2100" b="1">
                <a:solidFill>
                  <a:srgbClr val="000000"/>
                </a:solidFill>
                <a:latin typeface="Aptos"/>
              </a:rPr>
              <a:t>Section 3: Dashboard - Letter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" y="804672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ptos"/>
              </a:rPr>
              <a:t>Step 1:  </a:t>
            </a:r>
            <a:r>
              <a:rPr sz="1400" b="0">
                <a:solidFill>
                  <a:srgbClr val="000000"/>
                </a:solidFill>
                <a:latin typeface="Aptos"/>
              </a:rPr>
              <a:t>On the Dashboard, the </a:t>
            </a:r>
            <a:r>
              <a:rPr sz="1400" b="1">
                <a:solidFill>
                  <a:srgbClr val="000000"/>
                </a:solidFill>
                <a:latin typeface="Aptos"/>
              </a:rPr>
              <a:t>Letter Report</a:t>
            </a:r>
            <a:r>
              <a:rPr sz="1400" b="0">
                <a:solidFill>
                  <a:srgbClr val="000000"/>
                </a:solidFill>
                <a:latin typeface="Aptos"/>
              </a:rPr>
              <a:t> box ① shows the letters sent by you - </a:t>
            </a:r>
            <a:r>
              <a:rPr sz="1400" b="1">
                <a:solidFill>
                  <a:srgbClr val="000000"/>
                </a:solidFill>
                <a:latin typeface="Aptos"/>
              </a:rPr>
              <a:t>Sent</a:t>
            </a:r>
            <a:r>
              <a:rPr sz="1400" b="0">
                <a:solidFill>
                  <a:srgbClr val="000000"/>
                </a:solidFill>
                <a:latin typeface="Aptos"/>
              </a:rPr>
              <a:t> and </a:t>
            </a:r>
            <a:r>
              <a:rPr sz="1400" b="1">
                <a:solidFill>
                  <a:srgbClr val="000000"/>
                </a:solidFill>
                <a:latin typeface="Aptos"/>
              </a:rPr>
              <a:t>Draft</a:t>
            </a:r>
            <a:r>
              <a:rPr sz="1400" b="0">
                <a:solidFill>
                  <a:srgbClr val="000000"/>
                </a:solidFill>
                <a:latin typeface="Aptos"/>
              </a:rPr>
              <a:t> counts. Click the box to open the full report. The </a:t>
            </a:r>
            <a:r>
              <a:rPr sz="1400" b="1">
                <a:solidFill>
                  <a:srgbClr val="000000"/>
                </a:solidFill>
                <a:latin typeface="Aptos"/>
              </a:rPr>
              <a:t>Letter For Warranty Lapse</a:t>
            </a:r>
            <a:r>
              <a:rPr sz="1400" b="0">
                <a:solidFill>
                  <a:srgbClr val="000000"/>
                </a:solidFill>
                <a:latin typeface="Aptos"/>
              </a:rPr>
              <a:t> box in the CSP row shows the count of CSP letters sent by you - clicking it opens the same report filtered to CSP letters only</a:t>
            </a:r>
          </a:p>
        </p:txBody>
      </p:sp>
      <p:pic>
        <p:nvPicPr>
          <p:cNvPr id="4" name="Picture 3" descr="Screenshot 2026-08-06 1846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135" y="1792224"/>
            <a:ext cx="10734141" cy="47183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83464"/>
            <a:ext cx="9454896" cy="411480"/>
          </a:xfrm>
          <a:prstGeom prst="rect">
            <a:avLst/>
          </a:prstGeom>
          <a:solidFill>
            <a:srgbClr val="FFC000"/>
          </a:solidFill>
        </p:spPr>
        <p:txBody>
          <a:bodyPr wrap="square" tIns="27432" bIns="27432">
            <a:spAutoFit/>
          </a:bodyPr>
          <a:lstStyle/>
          <a:p>
            <a:pPr algn="ctr"/>
            <a:r>
              <a:rPr sz="2100" b="1">
                <a:solidFill>
                  <a:srgbClr val="000000"/>
                </a:solidFill>
                <a:latin typeface="Aptos"/>
              </a:rPr>
              <a:t>Letter Send Steps - </a:t>
            </a:r>
            <a:r>
              <a:rPr sz="2100" b="1">
                <a:solidFill>
                  <a:srgbClr val="000000"/>
                </a:solidFill>
                <a:latin typeface="Aptos"/>
              </a:rPr>
              <a:t>Section 3: Dashboard - Letter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" y="804672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ptos"/>
              </a:rPr>
              <a:t>Step 2:  </a:t>
            </a:r>
            <a:r>
              <a:rPr sz="1400" b="0">
                <a:solidFill>
                  <a:srgbClr val="000000"/>
                </a:solidFill>
                <a:latin typeface="Aptos"/>
              </a:rPr>
              <a:t>The </a:t>
            </a:r>
            <a:r>
              <a:rPr sz="1400" b="1">
                <a:solidFill>
                  <a:srgbClr val="000000"/>
                </a:solidFill>
                <a:latin typeface="Aptos"/>
              </a:rPr>
              <a:t>Letter Report</a:t>
            </a:r>
            <a:r>
              <a:rPr sz="1400" b="0">
                <a:solidFill>
                  <a:srgbClr val="000000"/>
                </a:solidFill>
                <a:latin typeface="Aptos"/>
              </a:rPr>
              <a:t> lists all your letters with customer, branch, format type, subject, attachments and status. Filter by date / status or search by ref, instance or subject ①. Click </a:t>
            </a:r>
            <a:r>
              <a:rPr sz="1400" b="1">
                <a:solidFill>
                  <a:srgbClr val="000000"/>
                </a:solidFill>
                <a:latin typeface="Aptos"/>
              </a:rPr>
              <a:t>View</a:t>
            </a:r>
            <a:r>
              <a:rPr sz="1400" b="0">
                <a:solidFill>
                  <a:srgbClr val="000000"/>
                </a:solidFill>
                <a:latin typeface="Aptos"/>
              </a:rPr>
              <a:t> ② to open the letter PDF again - it can be downloaded or printed. Click </a:t>
            </a:r>
            <a:r>
              <a:rPr sz="1400" b="1">
                <a:solidFill>
                  <a:srgbClr val="000000"/>
                </a:solidFill>
                <a:latin typeface="Aptos"/>
              </a:rPr>
              <a:t>Export</a:t>
            </a:r>
            <a:r>
              <a:rPr sz="1400" b="0">
                <a:solidFill>
                  <a:srgbClr val="000000"/>
                </a:solidFill>
                <a:latin typeface="Aptos"/>
              </a:rPr>
              <a:t> ③ for the Excel report. Clicking an Instance ID opens that customer's page directly</a:t>
            </a:r>
          </a:p>
        </p:txBody>
      </p:sp>
      <p:pic>
        <p:nvPicPr>
          <p:cNvPr id="4" name="Picture 3" descr="Screenshot 2026-08-06 1847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66" y="1792224"/>
            <a:ext cx="11155680" cy="35122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83464"/>
            <a:ext cx="9454896" cy="411480"/>
          </a:xfrm>
          <a:prstGeom prst="rect">
            <a:avLst/>
          </a:prstGeom>
          <a:solidFill>
            <a:srgbClr val="FFC000"/>
          </a:solidFill>
        </p:spPr>
        <p:txBody>
          <a:bodyPr wrap="square" tIns="27432" bIns="27432">
            <a:spAutoFit/>
          </a:bodyPr>
          <a:lstStyle/>
          <a:p>
            <a:pPr algn="ctr"/>
            <a:r>
              <a:rPr sz="2100" b="1">
                <a:solidFill>
                  <a:srgbClr val="000000"/>
                </a:solidFill>
                <a:latin typeface="Aptos"/>
              </a:rPr>
              <a:t>Maintenance Chart &amp; DG Set / Sticker Details in the Letter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0664" y="1188720"/>
            <a:ext cx="1094536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ptos"/>
              </a:rPr>
              <a:t>Maintenance Chart (Service Cycle):  </a:t>
            </a:r>
            <a:r>
              <a:rPr sz="1500" b="0">
                <a:solidFill>
                  <a:srgbClr val="000000"/>
                </a:solidFill>
                <a:latin typeface="Aptos"/>
              </a:rPr>
              <a:t>In CSP letters, tick Include Service Cycle in the letter step. It prints the “KOEL Preventive Maintenance Guidelines” table in the letter - Service Type (A / B / C Check), Schedule and Remarks. The rows come pre-filled from the Letter Master and every cell can be edited, rows can be removed or added</a:t>
            </a:r>
          </a:p>
          <a:p>
            <a:r>
              <a:rPr sz="1500" b="0">
                <a:solidFill>
                  <a:srgbClr val="000000"/>
                </a:solidFill>
                <a:latin typeface="Aptos"/>
              </a:rPr>
              <a:t/>
            </a:r>
          </a:p>
          <a:p>
            <a:r>
              <a:rPr sz="1500" b="1">
                <a:solidFill>
                  <a:srgbClr val="000000"/>
                </a:solidFill>
                <a:latin typeface="Aptos"/>
              </a:rPr>
              <a:t>DG Set Details:  </a:t>
            </a:r>
            <a:r>
              <a:rPr sz="1500" b="0">
                <a:solidFill>
                  <a:srgbClr val="000000"/>
                </a:solidFill>
                <a:latin typeface="Aptos"/>
              </a:rPr>
              <a:t>The References section of the letter automatically shows the DG set details of the customer - Instance ID, Application Code, Engine Model, KVA Rating, Warranty Expiry etc. Verify these details before sending; any wrong field can be corrected or removed with ✕ for that letter (Instance ID is always kept)</a:t>
            </a:r>
          </a:p>
          <a:p>
            <a:r>
              <a:rPr sz="1500" b="0">
                <a:solidFill>
                  <a:srgbClr val="000000"/>
                </a:solidFill>
                <a:latin typeface="Aptos"/>
              </a:rPr>
              <a:t/>
            </a:r>
          </a:p>
          <a:p>
            <a:r>
              <a:rPr sz="1500" b="1">
                <a:solidFill>
                  <a:srgbClr val="000000"/>
                </a:solidFill>
                <a:latin typeface="Aptos"/>
              </a:rPr>
              <a:t>DG Sticker &amp; Other Documents:  </a:t>
            </a:r>
            <a:r>
              <a:rPr sz="1500" b="0">
                <a:solidFill>
                  <a:srgbClr val="000000"/>
                </a:solidFill>
                <a:latin typeface="Aptos"/>
              </a:rPr>
              <a:t>Use Add file in the Attachments section to send the DG sticker image, service charts, quotation or any other document (jpg / png / pdf / doc / xlsx) along with the letter. The customer receives them together with the letter PDF in one email</a:t>
            </a:r>
          </a:p>
          <a:p>
            <a:r>
              <a:rPr sz="1500" b="0">
                <a:solidFill>
                  <a:srgbClr val="000000"/>
                </a:solidFill>
                <a:latin typeface="Aptos"/>
              </a:rPr>
              <a:t/>
            </a:r>
          </a:p>
          <a:p>
            <a:r>
              <a:rPr sz="1500" b="1">
                <a:solidFill>
                  <a:srgbClr val="000000"/>
                </a:solidFill>
                <a:latin typeface="Aptos"/>
              </a:rPr>
              <a:t>Note:  </a:t>
            </a:r>
            <a:r>
              <a:rPr sz="1500" b="0">
                <a:solidFill>
                  <a:srgbClr val="000000"/>
                </a:solidFill>
                <a:latin typeface="Aptos"/>
              </a:rPr>
              <a:t>The ready letter text itself informs the customer that the AMC / warranty of their DG Set (with the engine model and expiry date filled automatically) is due to expire and requests renewal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83464"/>
            <a:ext cx="9454896" cy="365760"/>
          </a:xfrm>
          <a:prstGeom prst="rect">
            <a:avLst/>
          </a:prstGeom>
          <a:solidFill>
            <a:srgbClr val="FFC000"/>
          </a:solidFill>
        </p:spPr>
        <p:txBody>
          <a:bodyPr wrap="square" tIns="27432" bIns="27432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Quick</a:t>
            </a:r>
            <a:r>
              <a:rPr sz="1800" b="1">
                <a:solidFill>
                  <a:srgbClr val="000000"/>
                </a:solidFill>
                <a:latin typeface="Aptos"/>
              </a:rPr>
              <a:t> Reference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804672"/>
          <a:ext cx="10369296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6803136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150" b="1">
                          <a:latin typeface="Aptos"/>
                        </a:rPr>
                        <a:t>Situation</a:t>
                      </a:r>
                    </a:p>
                  </a:txBody>
                  <a:tcPr marT="18288" marB="18288"/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latin typeface="Aptos"/>
                        </a:rPr>
                        <a:t>What to do</a:t>
                      </a:r>
                    </a:p>
                  </a:txBody>
                  <a:tcPr marT="18288" marB="18288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50" b="1">
                          <a:latin typeface="Aptos"/>
                        </a:rPr>
                        <a:t>Send a warranty lapse / CSP letter</a:t>
                      </a:r>
                    </a:p>
                  </a:txBody>
                  <a:tcPr marT="18288" marB="18288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latin typeface="Aptos"/>
                        </a:rPr>
                        <a:t>Open customer → Send Letter → choose Format Type → check letter → Review &amp; Send</a:t>
                      </a:r>
                    </a:p>
                  </a:txBody>
                  <a:tcPr marT="18288" marB="18288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50" b="1">
                          <a:latin typeface="Aptos"/>
                        </a:rPr>
                        <a:t>Save an unfinished letter</a:t>
                      </a:r>
                    </a:p>
                  </a:txBody>
                  <a:tcPr marT="18288" marB="18288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latin typeface="Aptos"/>
                        </a:rPr>
                        <a:t>Save as Draft - reopen later from Letter History (the Ref No stays the same)</a:t>
                      </a:r>
                    </a:p>
                  </a:txBody>
                  <a:tcPr marT="18288" marB="18288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50" b="1">
                          <a:latin typeface="Aptos"/>
                        </a:rPr>
                        <a:t>Add the maintenance chart in the letter</a:t>
                      </a:r>
                    </a:p>
                  </a:txBody>
                  <a:tcPr marT="18288" marB="18288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latin typeface="Aptos"/>
                        </a:rPr>
                        <a:t>Letter step → tick Include Service Cycle → check / edit the KOEL schedule rows</a:t>
                      </a:r>
                    </a:p>
                  </a:txBody>
                  <a:tcPr marT="18288" marB="18288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50" b="1">
                          <a:latin typeface="Aptos"/>
                        </a:rPr>
                        <a:t>Send the DG sticker / documents</a:t>
                      </a:r>
                    </a:p>
                  </a:txBody>
                  <a:tcPr marT="18288" marB="18288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latin typeface="Aptos"/>
                        </a:rPr>
                        <a:t>Attachments → Add file (jpg / png / pdf / doc / xlsx)</a:t>
                      </a:r>
                    </a:p>
                  </a:txBody>
                  <a:tcPr marT="18288" marB="18288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50" b="1">
                          <a:latin typeface="Aptos"/>
                        </a:rPr>
                        <a:t>See all letters of a customer</a:t>
                      </a:r>
                    </a:p>
                  </a:txBody>
                  <a:tcPr marT="18288" marB="18288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latin typeface="Aptos"/>
                        </a:rPr>
                        <a:t>Customer page → scroll to Letter History at the bottom</a:t>
                      </a:r>
                    </a:p>
                  </a:txBody>
                  <a:tcPr marT="18288" marB="18288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50" b="1">
                          <a:latin typeface="Aptos"/>
                        </a:rPr>
                        <a:t>See the letters sent by you</a:t>
                      </a:r>
                    </a:p>
                  </a:txBody>
                  <a:tcPr marT="18288" marB="18288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latin typeface="Aptos"/>
                        </a:rPr>
                        <a:t>Dashboard → Letter Report box → View / Download / Print</a:t>
                      </a:r>
                    </a:p>
                  </a:txBody>
                  <a:tcPr marT="18288" marB="18288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50" b="1">
                          <a:latin typeface="Aptos"/>
                        </a:rPr>
                        <a:t>See your CSP letters count</a:t>
                      </a:r>
                    </a:p>
                  </a:txBody>
                  <a:tcPr marT="18288" marB="18288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latin typeface="Aptos"/>
                        </a:rPr>
                        <a:t>Dashboard → Letter For Warranty Lapse box → click to view the list</a:t>
                      </a:r>
                    </a:p>
                  </a:txBody>
                  <a:tcPr marT="18288" marB="18288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3675887"/>
            <a:ext cx="9454896" cy="365760"/>
          </a:xfrm>
          <a:prstGeom prst="rect">
            <a:avLst/>
          </a:prstGeom>
          <a:solidFill>
            <a:srgbClr val="FFC000"/>
          </a:solidFill>
        </p:spPr>
        <p:txBody>
          <a:bodyPr wrap="square" tIns="27432" bIns="27432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Do's and Don'ts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4206240"/>
          <a:ext cx="10369296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4648"/>
                <a:gridCol w="5184648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150" b="1">
                          <a:latin typeface="Aptos"/>
                        </a:rPr>
                        <a:t>Do</a:t>
                      </a:r>
                    </a:p>
                  </a:txBody>
                  <a:tcPr marT="18288" marB="18288"/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latin typeface="Aptos"/>
                        </a:rPr>
                        <a:t>Don't</a:t>
                      </a:r>
                    </a:p>
                  </a:txBody>
                  <a:tcPr marT="18288" marB="18288"/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50" b="1">
                          <a:latin typeface="Aptos"/>
                        </a:rPr>
                        <a:t>Check the customer's email ID and the DG set details (References) before sending</a:t>
                      </a:r>
                    </a:p>
                  </a:txBody>
                  <a:tcPr marT="18288" marB="18288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latin typeface="Aptos"/>
                        </a:rPr>
                        <a:t>Do not send a letter without checking the preview in Review &amp; Send</a:t>
                      </a:r>
                    </a:p>
                  </a:txBody>
                  <a:tcPr marT="18288" marB="18288"/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50" b="1">
                          <a:latin typeface="Aptos"/>
                        </a:rPr>
                        <a:t>Use Save as Draft if the letter is incomplete</a:t>
                      </a:r>
                    </a:p>
                  </a:txBody>
                  <a:tcPr marT="18288" marB="18288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latin typeface="Aptos"/>
                        </a:rPr>
                        <a:t>Do not expect to edit a sent letter - complete it as a draft first, send once verified</a:t>
                      </a:r>
                    </a:p>
                  </a:txBody>
                  <a:tcPr marT="18288" marB="18288"/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50" b="1">
                          <a:latin typeface="Aptos"/>
                        </a:rPr>
                        <a:t>Attach the required documents (DG sticker, quotation, chart) before sending</a:t>
                      </a:r>
                    </a:p>
                  </a:txBody>
                  <a:tcPr marT="18288" marB="18288"/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latin typeface="Aptos"/>
                        </a:rPr>
                        <a:t>Do not use WhatsApp sending - it is not available yet, send by Email</a:t>
                      </a:r>
                    </a:p>
                  </a:txBody>
                  <a:tcPr marT="18288" marB="18288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0"/>
            <a:ext cx="7406640" cy="4937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7116</TotalTime>
  <Words>1272</Words>
  <Application>Microsoft Office PowerPoint</Application>
  <PresentationFormat>Custom</PresentationFormat>
  <Paragraphs>90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BDM KCGL</cp:lastModifiedBy>
  <cp:revision>259</cp:revision>
  <cp:lastPrinted>2026-01-08T14:00:00Z</cp:lastPrinted>
  <dcterms:created xsi:type="dcterms:W3CDTF">2024-04-02T05:02:00Z</dcterms:created>
  <dcterms:modified xsi:type="dcterms:W3CDTF">2026-07-20T04:56:55Z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4D29F4B6A207400DAD0268B757686EC8_13</vt:lpwstr>
  </property>
</Properties>
</file>